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6766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FFC107"/>
                </a:solidFill>
                <a:latin typeface="Trebuchet MS"/>
              </a:rPr>
              <a:t>My Wallet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880360"/>
            <a:ext cx="6766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Trebuchet MS"/>
              </a:rPr>
              <a:t>Personal Expense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611880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BDBDBD"/>
                </a:solidFill>
                <a:latin typeface="Calibri"/>
              </a:rPr>
              <a:t>A cross-platform CRUD mobile app built with Flutter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892040"/>
            <a:ext cx="457200" cy="54864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074920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Mobile Application Development  ·  Project Pitch &amp; Demo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BDBDBD"/>
                </a:solidFill>
                <a:latin typeface="Calibri"/>
              </a:rPr>
              <a:t>Group [Name]  ·  Members 1–5  ·  June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371600"/>
            <a:ext cx="3017520" cy="4206240"/>
          </a:xfrm>
          <a:prstGeom prst="roundRect">
            <a:avLst>
              <a:gd name="adj" fmla="val 8000"/>
            </a:avLst>
          </a:prstGeom>
          <a:solidFill>
            <a:srgbClr val="2C2C2C"/>
          </a:solidFill>
          <a:ln w="19050">
            <a:solidFill>
              <a:srgbClr val="FFC1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371600"/>
            <a:ext cx="3017520" cy="4206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000" b="0" i="0">
                <a:solidFill>
                  <a:srgbClr val="FFC107"/>
                </a:solidFill>
                <a:latin typeface="Calibri"/>
              </a:rPr>
              <a:t>🖼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Ledger / Home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BDBDBD"/>
                </a:solidFill>
                <a:latin typeface="Calibri"/>
              </a:rPr>
              <a:t>[ insert screenshot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222222"/>
                </a:solidFill>
                <a:latin typeface="Trebuchet MS"/>
              </a:rPr>
              <a:t>Where does my money actually go?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Calibri"/>
              </a:rPr>
              <a:t>Small, frequent purchases are easy to forget and quickly add up. Most finance apps are cluttered, ad-heavy, or force the user to create an online account and hand over their data.</a:t>
            </a:r>
          </a:p>
        </p:txBody>
      </p:sp>
      <p:sp>
        <p:nvSpPr>
          <p:cNvPr id="6" name="Oval 5"/>
          <p:cNvSpPr/>
          <p:nvPr/>
        </p:nvSpPr>
        <p:spPr>
          <a:xfrm>
            <a:off x="6766560" y="1508760"/>
            <a:ext cx="566928" cy="566928"/>
          </a:xfrm>
          <a:prstGeom prst="ellipse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222222"/>
                </a:solidFill>
                <a:latin typeface="Trebuchet MS"/>
              </a:rPr>
              <a:t>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490472"/>
            <a:ext cx="3931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Hard to track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Calibri"/>
              </a:rPr>
              <a:t>Daily cash spending slips through the cracks.</a:t>
            </a:r>
          </a:p>
        </p:txBody>
      </p:sp>
      <p:sp>
        <p:nvSpPr>
          <p:cNvPr id="8" name="Oval 7"/>
          <p:cNvSpPr/>
          <p:nvPr/>
        </p:nvSpPr>
        <p:spPr>
          <a:xfrm>
            <a:off x="6766560" y="2587752"/>
            <a:ext cx="566928" cy="566928"/>
          </a:xfrm>
          <a:prstGeom prst="ellipse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222222"/>
                </a:solidFill>
                <a:latin typeface="Trebuchet MS"/>
              </a:rPr>
              <a:t>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569464"/>
            <a:ext cx="3931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Too complex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Calibri"/>
              </a:rPr>
              <a:t>Existing apps are bloated and confusing.</a:t>
            </a:r>
          </a:p>
        </p:txBody>
      </p:sp>
      <p:sp>
        <p:nvSpPr>
          <p:cNvPr id="10" name="Oval 9"/>
          <p:cNvSpPr/>
          <p:nvPr/>
        </p:nvSpPr>
        <p:spPr>
          <a:xfrm>
            <a:off x="6766560" y="3666744"/>
            <a:ext cx="566928" cy="566928"/>
          </a:xfrm>
          <a:prstGeom prst="ellipse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222222"/>
                </a:solidFill>
                <a:latin typeface="Trebuchet MS"/>
              </a:rPr>
              <a:t>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648456"/>
            <a:ext cx="3931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Privacy worries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Calibri"/>
              </a:rPr>
              <a:t>Users don't want finances pushed to the cloud.</a:t>
            </a:r>
          </a:p>
        </p:txBody>
      </p:sp>
      <p:sp>
        <p:nvSpPr>
          <p:cNvPr id="12" name="Oval 11"/>
          <p:cNvSpPr/>
          <p:nvPr/>
        </p:nvSpPr>
        <p:spPr>
          <a:xfrm>
            <a:off x="6766560" y="4745736"/>
            <a:ext cx="566928" cy="566928"/>
          </a:xfrm>
          <a:prstGeom prst="ellipse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222222"/>
                </a:solidFill>
                <a:latin typeface="Trebuchet MS"/>
              </a:rPr>
              <a:t>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4727448"/>
            <a:ext cx="3931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No insight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Calibri"/>
              </a:rPr>
              <a:t>Spending patterns and budgets aren't obvious.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6400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222222"/>
                </a:solidFill>
                <a:latin typeface="Trebuchet MS"/>
              </a:rPr>
              <a:t>A fast, private, on-device ledger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6B6B6B"/>
                </a:solidFill>
                <a:latin typeface="Calibri"/>
              </a:rPr>
              <a:t>My Wallet lets you record income and expenses in seconds, browse them by day and month, see spending trends, and stay on budget — with every record stored privately on your own device.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3246120"/>
            <a:ext cx="310896" cy="310896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3246120"/>
            <a:ext cx="5852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Record a transaction in just a few taps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813048"/>
            <a:ext cx="310896" cy="310896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813048"/>
            <a:ext cx="5852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Browse by day, switch between months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379976"/>
            <a:ext cx="310896" cy="310896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4379976"/>
            <a:ext cx="5852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Charts and category breakdown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946904"/>
            <a:ext cx="310896" cy="310896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4946904"/>
            <a:ext cx="5852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Monthly budget tracking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5513831"/>
            <a:ext cx="310896" cy="310896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5513831"/>
            <a:ext cx="5852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22222"/>
                </a:solidFill>
                <a:latin typeface="Calibri"/>
              </a:rPr>
              <a:t>100% offline — no account, no cloud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417320"/>
            <a:ext cx="3017520" cy="4297680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417320"/>
            <a:ext cx="3017520" cy="429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000" b="0" i="0">
                <a:solidFill>
                  <a:srgbClr val="6B6B6B"/>
                </a:solidFill>
                <a:latin typeface="Calibri"/>
              </a:rPr>
              <a:t>🖼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My Wallet — Ledger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</a:rPr>
              <a:t>[ insert screenshot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Key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3419856" cy="1481328"/>
          </a:xfrm>
          <a:prstGeom prst="roundRect">
            <a:avLst>
              <a:gd name="adj" fmla="val 7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1810512"/>
            <a:ext cx="640080" cy="64008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222222"/>
                </a:solidFill>
                <a:latin typeface="Trebuchet MS"/>
              </a:rPr>
              <a:t>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755648"/>
            <a:ext cx="223113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Smart Ledger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Calibri"/>
              </a:rPr>
              <a:t>Transactions grouped by day with monthly totals.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7136" y="1554480"/>
            <a:ext cx="3419856" cy="1481328"/>
          </a:xfrm>
          <a:prstGeom prst="roundRect">
            <a:avLst>
              <a:gd name="adj" fmla="val 7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45736" y="1810512"/>
            <a:ext cx="640080" cy="64008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222222"/>
                </a:solidFill>
                <a:latin typeface="Trebuchet MS"/>
              </a:rPr>
              <a:t>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2976" y="1755648"/>
            <a:ext cx="223113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Quick Record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Calibri"/>
              </a:rPr>
              <a:t>Custom keypad, category grid, date &amp; note.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11312" y="1554480"/>
            <a:ext cx="3419856" cy="1481328"/>
          </a:xfrm>
          <a:prstGeom prst="roundRect">
            <a:avLst>
              <a:gd name="adj" fmla="val 7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39912" y="1810512"/>
            <a:ext cx="640080" cy="64008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222222"/>
                </a:solidFill>
                <a:latin typeface="Trebuchet MS"/>
              </a:rPr>
              <a:t>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17152" y="1755648"/>
            <a:ext cx="223113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Charts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Calibri"/>
              </a:rPr>
              <a:t>Week / Month / Year trend + category breakdown.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310128"/>
            <a:ext cx="3419856" cy="1481328"/>
          </a:xfrm>
          <a:prstGeom prst="roundRect">
            <a:avLst>
              <a:gd name="adj" fmla="val 7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3566160"/>
            <a:ext cx="640080" cy="64008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222222"/>
                </a:solidFill>
                <a:latin typeface="Trebuchet MS"/>
              </a:rPr>
              <a:t>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511296"/>
            <a:ext cx="223113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Budget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Calibri"/>
              </a:rPr>
              <a:t>Set a monthly limit; track remaining balance.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17136" y="3310128"/>
            <a:ext cx="3419856" cy="1481328"/>
          </a:xfrm>
          <a:prstGeom prst="roundRect">
            <a:avLst>
              <a:gd name="adj" fmla="val 7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745736" y="3566160"/>
            <a:ext cx="640080" cy="64008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222222"/>
                </a:solidFill>
                <a:latin typeface="Trebuchet MS"/>
              </a:rPr>
              <a:t>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3511296"/>
            <a:ext cx="223113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Statistics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Calibri"/>
              </a:rPr>
              <a:t>Lifetime income, expense, balance &amp; activity.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11312" y="3310128"/>
            <a:ext cx="3419856" cy="1481328"/>
          </a:xfrm>
          <a:prstGeom prst="roundRect">
            <a:avLst>
              <a:gd name="adj" fmla="val 7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39912" y="3566160"/>
            <a:ext cx="640080" cy="64008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222222"/>
                </a:solidFill>
                <a:latin typeface="Trebuchet MS"/>
              </a:rPr>
              <a:t>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7152" y="3511296"/>
            <a:ext cx="223113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Local Storage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Calibri"/>
              </a:rPr>
              <a:t>Saved on-device with shared_preferences.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CRUD at the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6B6B6B"/>
                </a:solidFill>
                <a:latin typeface="Calibri"/>
              </a:rPr>
              <a:t>Every requirement maps to a real feature, all driven by one Provider.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2615184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057400"/>
            <a:ext cx="2615184" cy="109728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7632" y="2468880"/>
            <a:ext cx="1005840" cy="100584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4000" b="1">
                <a:solidFill>
                  <a:srgbClr val="FFFFFF"/>
                </a:solidFill>
                <a:latin typeface="Trebuchet MS"/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657600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222222"/>
                </a:solidFill>
                <a:latin typeface="Trebuchet MS"/>
              </a:rPr>
              <a:t>Create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20624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Add a record via the keypad, category grid, date picker and note.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599" y="2057400"/>
            <a:ext cx="2615184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599" y="2057400"/>
            <a:ext cx="2615184" cy="10972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62272" y="2468880"/>
            <a:ext cx="1005840" cy="100584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4000" b="1">
                <a:solidFill>
                  <a:srgbClr val="FFFFFF"/>
                </a:solidFill>
                <a:latin typeface="Trebuchet MS"/>
              </a:rPr>
              <a:t>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79" y="3657600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222222"/>
                </a:solidFill>
                <a:latin typeface="Trebuchet MS"/>
              </a:rPr>
              <a:t>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13631" y="420624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Browse the Ledger grouped by day; open any record in Detail.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2057400"/>
            <a:ext cx="2615184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92240" y="2057400"/>
            <a:ext cx="2615184" cy="109728"/>
          </a:xfrm>
          <a:prstGeom prst="rect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96912" y="2468880"/>
            <a:ext cx="1005840" cy="1005840"/>
          </a:xfrm>
          <a:prstGeom prst="ellipse">
            <a:avLst/>
          </a:prstGeom>
          <a:solidFill>
            <a:srgbClr val="3B8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4000" b="1">
                <a:solidFill>
                  <a:srgbClr val="FFFFFF"/>
                </a:solidFill>
                <a:latin typeface="Trebuchet MS"/>
              </a:rPr>
              <a:t>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657600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222222"/>
                </a:solidFill>
                <a:latin typeface="Trebuchet MS"/>
              </a:rPr>
              <a:t>Update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8272" y="420624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Edit a record — the Add screen reopens pre-filled.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2057400"/>
            <a:ext cx="2615184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26880" y="2057400"/>
            <a:ext cx="2615184" cy="109728"/>
          </a:xfrm>
          <a:prstGeom prst="rect">
            <a:avLst/>
          </a:prstGeom>
          <a:solidFill>
            <a:srgbClr val="E55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131551" y="2468880"/>
            <a:ext cx="1005840" cy="1005840"/>
          </a:xfrm>
          <a:prstGeom prst="ellipse">
            <a:avLst/>
          </a:prstGeom>
          <a:solidFill>
            <a:srgbClr val="E55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4000" b="1">
                <a:solidFill>
                  <a:srgbClr val="FFFFFF"/>
                </a:solidFill>
                <a:latin typeface="Trebuchet MS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59" y="3657600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222222"/>
                </a:solidFill>
                <a:latin typeface="Trebuchet MS"/>
              </a:rPr>
              <a:t>Delete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1" y="420624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Remove a record with a confirm dialog, or clear 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6B6B6B"/>
                </a:solidFill>
                <a:latin typeface="Calibri"/>
              </a:rPr>
              <a:t>A clean, layered design — the UI never touches storage directly.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7863840" cy="841248"/>
          </a:xfrm>
          <a:prstGeom prst="roundRect">
            <a:avLst>
              <a:gd name="adj" fmla="val 5000"/>
            </a:avLst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057400"/>
            <a:ext cx="7315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22222"/>
                </a:solidFill>
                <a:latin typeface="Calibri"/>
              </a:rPr>
              <a:t>UI Layer   </a:t>
            </a:r>
            <a:r>
              <a:rPr sz="1450" b="0" i="0">
                <a:solidFill>
                  <a:srgbClr val="222222"/>
                </a:solidFill>
                <a:latin typeface="Calibri"/>
              </a:rPr>
              <a:t>Ledger · Charts · Discover · Profile · Add / Edit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98648"/>
            <a:ext cx="7863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6B6B"/>
                </a:solidFill>
                <a:latin typeface="Calibri"/>
              </a:rPr>
              <a:t>↓  context.watch / 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82696"/>
            <a:ext cx="7863840" cy="841248"/>
          </a:xfrm>
          <a:prstGeom prst="roundRect">
            <a:avLst>
              <a:gd name="adj" fmla="val 5000"/>
            </a:avLst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282696"/>
            <a:ext cx="7315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State Layer 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TransactionProvider  (ChangeNotifier) — CRUD, totals, 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23944"/>
            <a:ext cx="7863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6B6B"/>
                </a:solidFill>
                <a:latin typeface="Calibri"/>
              </a:rPr>
              <a:t>↓  toJson / fromJson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507992"/>
            <a:ext cx="7863840" cy="841248"/>
          </a:xfrm>
          <a:prstGeom prst="roundRect">
            <a:avLst>
              <a:gd name="adj" fmla="val 5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507992"/>
            <a:ext cx="7315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Model Layer 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Transaction · Category · TransactionType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7863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6B6B"/>
                </a:solidFill>
                <a:latin typeface="Calibri"/>
              </a:rPr>
              <a:t>↓  load / save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733288"/>
            <a:ext cx="7863840" cy="841248"/>
          </a:xfrm>
          <a:prstGeom prst="roundRect">
            <a:avLst>
              <a:gd name="adj" fmla="val 5000"/>
            </a:avLst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733288"/>
            <a:ext cx="7315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Storage Layer  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SharedPreferences  (local JSON key/value)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40" y="2057400"/>
            <a:ext cx="2377440" cy="4041648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2331720"/>
            <a:ext cx="19202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222222"/>
                </a:solidFill>
                <a:latin typeface="Trebuchet MS"/>
              </a:rPr>
              <a:t>Why it works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• Single source of truth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• UI rebuilds on change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• Logic easy to test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• No network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00200"/>
            <a:ext cx="2615184" cy="120700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600200"/>
            <a:ext cx="91440" cy="1207008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2203703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Trebuchet MS"/>
              </a:rPr>
              <a:t>Flutter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Calibri"/>
              </a:rPr>
              <a:t>Cross-platform UI toolkit (Material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599" y="1600200"/>
            <a:ext cx="2615184" cy="120700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599" y="1600200"/>
            <a:ext cx="91440" cy="1207008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0" y="1783080"/>
            <a:ext cx="2203703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Trebuchet MS"/>
              </a:rPr>
              <a:t>Dart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Calibri"/>
              </a:rPr>
              <a:t>Application language (SDK ^3.11)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600200"/>
            <a:ext cx="2615184" cy="120700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600200"/>
            <a:ext cx="91440" cy="1207008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783080"/>
            <a:ext cx="2203703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Trebuchet MS"/>
              </a:rPr>
              <a:t>provider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Calibri"/>
              </a:rPr>
              <a:t>ChangeNotifier state management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1600200"/>
            <a:ext cx="2615184" cy="120700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326880" y="1600200"/>
            <a:ext cx="91440" cy="1207008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0" y="1783080"/>
            <a:ext cx="2203703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Trebuchet MS"/>
              </a:rPr>
              <a:t>shared_preferences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Calibri"/>
              </a:rPr>
              <a:t>Local on-device persistence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063240"/>
            <a:ext cx="2615184" cy="120700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063240"/>
            <a:ext cx="91440" cy="1207008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246120"/>
            <a:ext cx="2203703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Trebuchet MS"/>
              </a:rPr>
              <a:t>intl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Calibri"/>
              </a:rPr>
              <a:t>Date &amp; number formatting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599" y="3063240"/>
            <a:ext cx="2615184" cy="120700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599" y="3063240"/>
            <a:ext cx="91440" cy="1207008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31920" y="3246120"/>
            <a:ext cx="2203703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Trebuchet MS"/>
              </a:rPr>
              <a:t>uuid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Calibri"/>
              </a:rPr>
              <a:t>Unique transaction IDs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3063240"/>
            <a:ext cx="2615184" cy="120700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92240" y="3063240"/>
            <a:ext cx="91440" cy="1207008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59" y="3246120"/>
            <a:ext cx="2203703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Trebuchet MS"/>
              </a:rPr>
              <a:t>flutter_test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Calibri"/>
              </a:rPr>
              <a:t>Unit &amp; widget testing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0" y="3063240"/>
            <a:ext cx="2615184" cy="120700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26880" y="3063240"/>
            <a:ext cx="91440" cy="1207008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3246120"/>
            <a:ext cx="2203703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Trebuchet MS"/>
              </a:rPr>
              <a:t>Git + GitHub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Calibri"/>
              </a:rPr>
              <a:t>Version control &amp; collaboration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State &amp; Persistence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Trebuchet MS"/>
              </a:rPr>
              <a:t>Provider as the single source of truth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0" i="0">
                <a:solidFill>
                  <a:srgbClr val="6B6B6B"/>
                </a:solidFill>
                <a:latin typeface="Calibri"/>
              </a:rPr>
              <a:t>TransactionProvider extends ChangeNotifier. Each CRUD method mutates the list, saves to storage, then calls notifyListeners() so every watching widget rebuilds automatically.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Trebuchet MS"/>
              </a:rPr>
              <a:t>On-device persistence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B"/>
                </a:solidFill>
                <a:latin typeface="Calibri"/>
              </a:rPr>
              <a:t>Transactions are serialised to JSON and saved as a string list with shared_preferences — lightweight and fully offline.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029200" cy="41148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691640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150">
                <a:solidFill>
                  <a:srgbClr val="FFC107"/>
                </a:solidFill>
                <a:latin typeface="Consolas"/>
              </a:rPr>
              <a:t>Future&lt;void&gt; add(Transaction t) async {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  _transactions.add(t);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  await _save();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  notifyListeners();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C107"/>
                </a:solidFill>
                <a:latin typeface="Consolas"/>
              </a:rPr>
              <a:t>}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C107"/>
                </a:solidFill>
                <a:latin typeface="Consolas"/>
              </a:rPr>
              <a:t>Future&lt;void&gt; _save() async {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  final prefs =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      await SharedPreferences.getInstance();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  await prefs.setStringList(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BDBDBD"/>
                </a:solidFill>
                <a:latin typeface="Consolas"/>
              </a:rPr>
              <a:t>    'transactions',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    _transactions.map((t) =&gt; t.toJson())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        .toList(),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  );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FFC107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UI / UX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6B6B6B"/>
                </a:solidFill>
                <a:latin typeface="Calibri"/>
              </a:rPr>
              <a:t>Material 3 · amber brand colour · familiar daily-ledger layout.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2542032" cy="3566160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2542032" cy="3566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000" b="0" i="0">
                <a:solidFill>
                  <a:srgbClr val="6B6B6B"/>
                </a:solidFill>
                <a:latin typeface="Calibri"/>
              </a:rPr>
              <a:t>🖼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Ledger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</a:rPr>
              <a:t>[ insert screenshot 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84447" y="1965960"/>
            <a:ext cx="2542032" cy="3566160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7" y="1965960"/>
            <a:ext cx="2542032" cy="3566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000" b="0" i="0">
                <a:solidFill>
                  <a:srgbClr val="6B6B6B"/>
                </a:solidFill>
                <a:latin typeface="Calibri"/>
              </a:rPr>
              <a:t>🖼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Add Record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</a:rPr>
              <a:t>[ insert screenshot 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45936" y="1965960"/>
            <a:ext cx="2542032" cy="3566160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936" y="1965960"/>
            <a:ext cx="2542032" cy="3566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000" b="0" i="0">
                <a:solidFill>
                  <a:srgbClr val="6B6B6B"/>
                </a:solidFill>
                <a:latin typeface="Calibri"/>
              </a:rPr>
              <a:t>🖼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Charts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</a:rPr>
              <a:t>[ insert screenshot 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07424" y="1965960"/>
            <a:ext cx="2542032" cy="3566160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 w="190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07424" y="1965960"/>
            <a:ext cx="2542032" cy="3566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000" b="0" i="0">
                <a:solidFill>
                  <a:srgbClr val="6B6B6B"/>
                </a:solidFill>
                <a:latin typeface="Calibri"/>
              </a:rPr>
              <a:t>🖼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Profile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B6B6B"/>
                </a:solidFill>
                <a:latin typeface="Calibri"/>
              </a:rPr>
              <a:t>[ insert screenshot 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FFC107"/>
                </a:solidFill>
                <a:latin typeface="Trebuchet MS"/>
              </a:rPr>
              <a:t>Live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00400"/>
            <a:ext cx="548640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3520440"/>
            <a:ext cx="384048" cy="384048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222222"/>
                </a:solidFill>
                <a:latin typeface="Trebuchet M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3520440"/>
            <a:ext cx="6400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Add an expense with the keypad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4123944"/>
            <a:ext cx="384048" cy="384048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222222"/>
                </a:solidFill>
                <a:latin typeface="Trebuchet M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4123944"/>
            <a:ext cx="6400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Watch it appear in today's ledger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727448"/>
            <a:ext cx="384048" cy="384048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222222"/>
                </a:solidFill>
                <a:latin typeface="Trebuchet M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727448"/>
            <a:ext cx="6400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Open it, edit the amount, delete it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5330952"/>
            <a:ext cx="384048" cy="384048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222222"/>
                </a:solidFill>
                <a:latin typeface="Trebuchet MS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5330952"/>
            <a:ext cx="6400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Set a budget · view the charts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1554480"/>
            <a:ext cx="2743200" cy="3749039"/>
          </a:xfrm>
          <a:prstGeom prst="roundRect">
            <a:avLst>
              <a:gd name="adj" fmla="val 8000"/>
            </a:avLst>
          </a:prstGeom>
          <a:solidFill>
            <a:srgbClr val="2C2C2C"/>
          </a:solidFill>
          <a:ln w="19050">
            <a:solidFill>
              <a:srgbClr val="FFC1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1554480"/>
            <a:ext cx="2743200" cy="37490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000" b="0" i="0">
                <a:solidFill>
                  <a:srgbClr val="FFC107"/>
                </a:solidFill>
                <a:latin typeface="Calibri"/>
              </a:rPr>
              <a:t>🖼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App Demo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BDBDBD"/>
                </a:solidFill>
                <a:latin typeface="Calibri"/>
              </a:rPr>
              <a:t>[ insert screenshot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Testing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00200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C107"/>
                </a:solidFill>
                <a:latin typeface="Trebuchet MS"/>
              </a:rPr>
              <a:t>11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automated tests passing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60020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22222"/>
                </a:solidFill>
                <a:latin typeface="Trebuchet MS"/>
              </a:rPr>
              <a:t>What we tested</a:t>
            </a:r>
          </a:p>
        </p:txBody>
      </p:sp>
      <p:sp>
        <p:nvSpPr>
          <p:cNvPr id="9" name="Oval 8"/>
          <p:cNvSpPr/>
          <p:nvPr/>
        </p:nvSpPr>
        <p:spPr>
          <a:xfrm>
            <a:off x="4846320" y="2148840"/>
            <a:ext cx="365760" cy="36576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112264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22222"/>
                </a:solidFill>
                <a:latin typeface="Calibri"/>
              </a:rPr>
              <a:t>Unit — Model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Serialisation round-trips, copyWith, category labels.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0" y="2990088"/>
            <a:ext cx="365760" cy="36576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953512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22222"/>
                </a:solidFill>
                <a:latin typeface="Calibri"/>
              </a:rPr>
              <a:t>Unit — Provider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add · update · delete · clearAll · budget · totals.</a:t>
            </a:r>
          </a:p>
        </p:txBody>
      </p:sp>
      <p:sp>
        <p:nvSpPr>
          <p:cNvPr id="13" name="Oval 12"/>
          <p:cNvSpPr/>
          <p:nvPr/>
        </p:nvSpPr>
        <p:spPr>
          <a:xfrm>
            <a:off x="4846320" y="3831336"/>
            <a:ext cx="365760" cy="36576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794760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22222"/>
                </a:solidFill>
                <a:latin typeface="Calibri"/>
              </a:rPr>
              <a:t>Widget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App builds and the bottom navigation renders.</a:t>
            </a:r>
          </a:p>
        </p:txBody>
      </p:sp>
      <p:sp>
        <p:nvSpPr>
          <p:cNvPr id="15" name="Oval 14"/>
          <p:cNvSpPr/>
          <p:nvPr/>
        </p:nvSpPr>
        <p:spPr>
          <a:xfrm>
            <a:off x="4846320" y="4672584"/>
            <a:ext cx="365760" cy="365760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4636008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22222"/>
                </a:solidFill>
                <a:latin typeface="Calibri"/>
              </a:rPr>
              <a:t>Manual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8 end-to-end flows incl. persistence after restart.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Team &amp; Contributions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10515600" cy="713232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1764792"/>
            <a:ext cx="475488" cy="475488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222222"/>
                </a:solidFill>
                <a:latin typeface="Trebuchet M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645920"/>
            <a:ext cx="36576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Member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645920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B"/>
                </a:solidFill>
                <a:latin typeface="Calibri"/>
              </a:rPr>
              <a:t>Project lead · State management &amp; data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487168"/>
            <a:ext cx="1051560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2606040"/>
            <a:ext cx="475488" cy="475488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222222"/>
                </a:solidFill>
                <a:latin typeface="Trebuchet M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487168"/>
            <a:ext cx="36576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Member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487168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B"/>
                </a:solidFill>
                <a:latin typeface="Calibri"/>
              </a:rPr>
              <a:t>UI/UX · Ledger &amp; Detail screens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328416"/>
            <a:ext cx="10515600" cy="713232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447288"/>
            <a:ext cx="475488" cy="475488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222222"/>
                </a:solidFill>
                <a:latin typeface="Trebuchet M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328416"/>
            <a:ext cx="36576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Member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3328416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B"/>
                </a:solidFill>
                <a:latin typeface="Calibri"/>
              </a:rPr>
              <a:t>Add/Edit &amp; Charts screens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169664"/>
            <a:ext cx="1051560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4288536"/>
            <a:ext cx="475488" cy="475488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222222"/>
                </a:solidFill>
                <a:latin typeface="Trebuchet M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4169664"/>
            <a:ext cx="36576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Member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169664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B"/>
                </a:solidFill>
                <a:latin typeface="Calibri"/>
              </a:rPr>
              <a:t>Discover, Profile · Persistence &amp; testing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010912"/>
            <a:ext cx="10515600" cy="713232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1560" y="5129784"/>
            <a:ext cx="475488" cy="475488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222222"/>
                </a:solidFill>
                <a:latin typeface="Trebuchet M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5010912"/>
            <a:ext cx="36576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Member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010912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B"/>
                </a:solidFill>
                <a:latin typeface="Calibri"/>
              </a:rPr>
              <a:t>Documentation, report &amp; presentation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B6B6B"/>
                </a:solidFill>
                <a:latin typeface="Calibri"/>
              </a:rPr>
              <a:t>Every member contributed across design, development, testing &amp; docs. Source managed with Git + GitHub.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557784"/>
            <a:ext cx="237744" cy="237744"/>
          </a:xfrm>
          <a:prstGeom prst="round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5029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2222"/>
                </a:solidFill>
                <a:latin typeface="Trebuchet MS"/>
              </a:rPr>
              <a:t>Challenges &amp; 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22222"/>
                </a:solidFill>
                <a:latin typeface="Trebuchet MS"/>
              </a:rPr>
              <a:t>Challenges we solved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194560"/>
            <a:ext cx="329184" cy="329184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194560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Keeping UI in sync → single Provider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871215"/>
            <a:ext cx="329184" cy="329184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871215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Structured storage → JSON + prefs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547872"/>
            <a:ext cx="329184" cy="329184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547872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Trend chart → custom CustomPainter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224527"/>
            <a:ext cx="329184" cy="329184"/>
          </a:xfrm>
          <a:prstGeom prst="ellipse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222222"/>
                </a:solidFill>
                <a:latin typeface="Trebuchet M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4224527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Valid input → keypad guard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554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22222"/>
                </a:solidFill>
                <a:latin typeface="Trebuchet MS"/>
              </a:rPr>
              <a:t>Future enhancements</a:t>
            </a:r>
          </a:p>
        </p:txBody>
      </p:sp>
      <p:sp>
        <p:nvSpPr>
          <p:cNvPr id="15" name="Oval 14"/>
          <p:cNvSpPr/>
          <p:nvPr/>
        </p:nvSpPr>
        <p:spPr>
          <a:xfrm>
            <a:off x="6355080" y="2194560"/>
            <a:ext cx="329184" cy="329184"/>
          </a:xfrm>
          <a:prstGeom prst="ellipse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C107"/>
                </a:solidFill>
                <a:latin typeface="Trebuchet MS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194560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Cloud sync &amp; multi-device</a:t>
            </a:r>
          </a:p>
        </p:txBody>
      </p:sp>
      <p:sp>
        <p:nvSpPr>
          <p:cNvPr id="17" name="Oval 16"/>
          <p:cNvSpPr/>
          <p:nvPr/>
        </p:nvSpPr>
        <p:spPr>
          <a:xfrm>
            <a:off x="6355080" y="2779776"/>
            <a:ext cx="329184" cy="329184"/>
          </a:xfrm>
          <a:prstGeom prst="ellipse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C107"/>
                </a:solidFill>
                <a:latin typeface="Trebuchet MS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2779776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Export to CSV / PDF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3364991"/>
            <a:ext cx="329184" cy="329184"/>
          </a:xfrm>
          <a:prstGeom prst="ellipse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C107"/>
                </a:solidFill>
                <a:latin typeface="Trebuchet MS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3364991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Recurring bills &amp; reminders</a:t>
            </a:r>
          </a:p>
        </p:txBody>
      </p:sp>
      <p:sp>
        <p:nvSpPr>
          <p:cNvPr id="21" name="Oval 20"/>
          <p:cNvSpPr/>
          <p:nvPr/>
        </p:nvSpPr>
        <p:spPr>
          <a:xfrm>
            <a:off x="6355080" y="3950208"/>
            <a:ext cx="329184" cy="329184"/>
          </a:xfrm>
          <a:prstGeom prst="ellipse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C107"/>
                </a:solidFill>
                <a:latin typeface="Trebuchet MS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950208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Dark mode &amp; multi-currency</a:t>
            </a:r>
          </a:p>
        </p:txBody>
      </p:sp>
      <p:sp>
        <p:nvSpPr>
          <p:cNvPr id="23" name="Oval 22"/>
          <p:cNvSpPr/>
          <p:nvPr/>
        </p:nvSpPr>
        <p:spPr>
          <a:xfrm>
            <a:off x="6355080" y="4535424"/>
            <a:ext cx="329184" cy="329184"/>
          </a:xfrm>
          <a:prstGeom prst="ellipse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C107"/>
                </a:solidFill>
                <a:latin typeface="Trebuchet MS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4535424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222"/>
                </a:solidFill>
                <a:latin typeface="Calibri"/>
              </a:rPr>
              <a:t>SQLite for larger datasets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600" b="1" i="0">
                <a:solidFill>
                  <a:srgbClr val="FFC107"/>
                </a:solidFill>
                <a:latin typeface="Trebuchet MS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204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Trebuchet MS"/>
              </a:rPr>
              <a:t>My Wallet — Personal Expense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206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BDBDBD"/>
                </a:solidFill>
                <a:latin typeface="Calibri"/>
              </a:rPr>
              <a:t>Built with Flutter  ·  Provider  ·  shared_preferences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0292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C107"/>
                </a:solidFill>
                <a:latin typeface="Calibri"/>
              </a:rPr>
              <a:t>Questions &amp; demo  ·  github.com/[your-repo]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