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737360"/>
            <a:ext cx="676656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6000" b="1" i="0">
                <a:solidFill>
                  <a:srgbClr val="FFC107"/>
                </a:solidFill>
                <a:latin typeface="Trebuchet MS"/>
              </a:rPr>
              <a:t>My Wallet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2880360"/>
            <a:ext cx="676656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800" b="1" i="0">
                <a:solidFill>
                  <a:srgbClr val="FFFFFF"/>
                </a:solidFill>
                <a:latin typeface="Trebuchet MS"/>
              </a:rPr>
              <a:t>Personal Expense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3611880"/>
            <a:ext cx="6766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1">
                <a:solidFill>
                  <a:srgbClr val="BDBDBD"/>
                </a:solidFill>
                <a:latin typeface="Calibri"/>
              </a:rPr>
              <a:t>A cross-platform CRUD mobile app built with Flutter &amp; Firebase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680" y="4892040"/>
            <a:ext cx="457200" cy="54864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5074920"/>
            <a:ext cx="69494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DES3113 — Mobile App Design &amp; Development  ·  Pitch &amp; Demo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00" b="0" i="0">
                <a:solidFill>
                  <a:srgbClr val="BDBDBD"/>
                </a:solidFill>
                <a:latin typeface="Calibri"/>
              </a:rPr>
              <a:t>Team of 5  ·  Lecturer: Dr. Ahmad Wiraputra bin Selamat  · 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0" y="1371600"/>
            <a:ext cx="3017520" cy="4206240"/>
          </a:xfrm>
          <a:prstGeom prst="roundRect">
            <a:avLst>
              <a:gd name="adj" fmla="val 8000"/>
            </a:avLst>
          </a:prstGeom>
          <a:solidFill>
            <a:srgbClr val="2C2C2C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0" y="1371600"/>
            <a:ext cx="3017520" cy="4206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FFC107"/>
                </a:solidFill>
                <a:latin typeface="Calibri"/>
              </a:rPr>
              <a:t>🖼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Ledger / Home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BDBDBD"/>
                </a:solidFill>
                <a:latin typeface="Calibri"/>
              </a:rPr>
              <a:t>[ insert screenshot 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57784"/>
            <a:ext cx="237744" cy="237744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02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22222"/>
                </a:solidFill>
                <a:latin typeface="Trebuchet MS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63040"/>
            <a:ext cx="56692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222222"/>
                </a:solidFill>
                <a:latin typeface="Trebuchet MS"/>
              </a:rPr>
              <a:t>Where does my money actually go?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400"/>
              </a:spcAft>
            </a:pPr>
            <a:r>
              <a:rPr sz="1500" b="0" i="0">
                <a:solidFill>
                  <a:srgbClr val="6B6B6B"/>
                </a:solidFill>
                <a:latin typeface="Calibri"/>
              </a:rPr>
              <a:t>Small, frequent purchases are easy to forget and quickly add up. Most finance apps are cluttered, ad-heavy, or hide the basics behind a paywall.</a:t>
            </a:r>
          </a:p>
        </p:txBody>
      </p:sp>
      <p:sp>
        <p:nvSpPr>
          <p:cNvPr id="6" name="Oval 5"/>
          <p:cNvSpPr/>
          <p:nvPr/>
        </p:nvSpPr>
        <p:spPr>
          <a:xfrm>
            <a:off x="6766560" y="1508760"/>
            <a:ext cx="566928" cy="566928"/>
          </a:xfrm>
          <a:prstGeom prst="ellipse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222222"/>
                </a:solidFill>
                <a:latin typeface="Trebuchet MS"/>
              </a:rPr>
              <a:t>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79" y="1490472"/>
            <a:ext cx="3931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22222"/>
                </a:solidFill>
                <a:latin typeface="Calibri"/>
              </a:rPr>
              <a:t>Hard to track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6B6B"/>
                </a:solidFill>
                <a:latin typeface="Calibri"/>
              </a:rPr>
              <a:t>Daily cash spending slips through the cracks.</a:t>
            </a:r>
          </a:p>
        </p:txBody>
      </p:sp>
      <p:sp>
        <p:nvSpPr>
          <p:cNvPr id="8" name="Oval 7"/>
          <p:cNvSpPr/>
          <p:nvPr/>
        </p:nvSpPr>
        <p:spPr>
          <a:xfrm>
            <a:off x="6766560" y="2587752"/>
            <a:ext cx="566928" cy="566928"/>
          </a:xfrm>
          <a:prstGeom prst="ellipse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222222"/>
                </a:solidFill>
                <a:latin typeface="Trebuchet MS"/>
              </a:rPr>
              <a:t>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498079" y="2569464"/>
            <a:ext cx="3931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22222"/>
                </a:solidFill>
                <a:latin typeface="Calibri"/>
              </a:rPr>
              <a:t>Too complex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6B6B"/>
                </a:solidFill>
                <a:latin typeface="Calibri"/>
              </a:rPr>
              <a:t>Existing apps are bloated and confusing.</a:t>
            </a:r>
          </a:p>
        </p:txBody>
      </p:sp>
      <p:sp>
        <p:nvSpPr>
          <p:cNvPr id="10" name="Oval 9"/>
          <p:cNvSpPr/>
          <p:nvPr/>
        </p:nvSpPr>
        <p:spPr>
          <a:xfrm>
            <a:off x="6766560" y="3666744"/>
            <a:ext cx="566928" cy="566928"/>
          </a:xfrm>
          <a:prstGeom prst="ellipse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222222"/>
                </a:solidFill>
                <a:latin typeface="Trebuchet MS"/>
              </a:rPr>
              <a:t>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79" y="3648456"/>
            <a:ext cx="3931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22222"/>
                </a:solidFill>
                <a:latin typeface="Calibri"/>
              </a:rPr>
              <a:t>No backup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6B6B"/>
                </a:solidFill>
                <a:latin typeface="Calibri"/>
              </a:rPr>
              <a:t>Records trapped on one phone — lost if it's gone.</a:t>
            </a:r>
          </a:p>
        </p:txBody>
      </p:sp>
      <p:sp>
        <p:nvSpPr>
          <p:cNvPr id="12" name="Oval 11"/>
          <p:cNvSpPr/>
          <p:nvPr/>
        </p:nvSpPr>
        <p:spPr>
          <a:xfrm>
            <a:off x="6766560" y="4745736"/>
            <a:ext cx="566928" cy="566928"/>
          </a:xfrm>
          <a:prstGeom prst="ellipse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222222"/>
                </a:solidFill>
                <a:latin typeface="Trebuchet MS"/>
              </a:rPr>
              <a:t>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79" y="4727448"/>
            <a:ext cx="39319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22222"/>
                </a:solidFill>
                <a:latin typeface="Calibri"/>
              </a:rPr>
              <a:t>No insight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0" i="0">
                <a:solidFill>
                  <a:srgbClr val="6B6B6B"/>
                </a:solidFill>
                <a:latin typeface="Calibri"/>
              </a:rPr>
              <a:t>Spending patterns and budgets aren't obvious.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57784"/>
            <a:ext cx="237744" cy="237744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02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22222"/>
                </a:solidFill>
                <a:latin typeface="Trebuchet MS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640080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2000" b="1" i="0">
                <a:solidFill>
                  <a:srgbClr val="222222"/>
                </a:solidFill>
                <a:latin typeface="Trebuchet MS"/>
              </a:rPr>
              <a:t>A fast, simple, cloud-backed ledger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500" b="0" i="0">
                <a:solidFill>
                  <a:srgbClr val="6B6B6B"/>
                </a:solidFill>
                <a:latin typeface="Calibri"/>
              </a:rPr>
              <a:t>My Wallet lets you record income and expenses in seconds, browse them by day and month, see spending trends, and stay on budget — with every record stored safely in the cloud and synced in realtime.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3246120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22222"/>
                </a:solidFill>
                <a:latin typeface="Trebuchet M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3246120"/>
            <a:ext cx="5852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Record a transaction in just a few taps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3813048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22222"/>
                </a:solidFill>
                <a:latin typeface="Trebuchet M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3813048"/>
            <a:ext cx="5852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Browse by day, switch between months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4379976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22222"/>
                </a:solidFill>
                <a:latin typeface="Trebuchet M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4379976"/>
            <a:ext cx="5852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Charts and category breakdown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946904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22222"/>
                </a:solidFill>
                <a:latin typeface="Trebuchet M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946904"/>
            <a:ext cx="5852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Monthly budget tracking</a:t>
            </a:r>
          </a:p>
        </p:txBody>
      </p:sp>
      <p:sp>
        <p:nvSpPr>
          <p:cNvPr id="14" name="Oval 13"/>
          <p:cNvSpPr/>
          <p:nvPr/>
        </p:nvSpPr>
        <p:spPr>
          <a:xfrm>
            <a:off x="868680" y="5513831"/>
            <a:ext cx="310896" cy="310896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22222"/>
                </a:solidFill>
                <a:latin typeface="Trebuchet MS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25880" y="5513831"/>
            <a:ext cx="585216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0" i="0">
                <a:solidFill>
                  <a:srgbClr val="222222"/>
                </a:solidFill>
                <a:latin typeface="Calibri"/>
              </a:rPr>
              <a:t>Realtime cloud sync with Firebase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0" y="1417320"/>
            <a:ext cx="3017520" cy="429768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1417320"/>
            <a:ext cx="3017520" cy="42976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6B6B6B"/>
                </a:solidFill>
                <a:latin typeface="Calibri"/>
              </a:rPr>
              <a:t>🖼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My Wallet — Ledger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6B6B"/>
                </a:solidFill>
                <a:latin typeface="Calibri"/>
              </a:rPr>
              <a:t>[ insert screenshot 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57784"/>
            <a:ext cx="237744" cy="237744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02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22222"/>
                </a:solidFill>
                <a:latin typeface="Trebuchet MS"/>
              </a:rPr>
              <a:t>Key Features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554480"/>
            <a:ext cx="3419856" cy="1481328"/>
          </a:xfrm>
          <a:prstGeom prst="roundRect">
            <a:avLst>
              <a:gd name="adj" fmla="val 7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810512"/>
            <a:ext cx="640080" cy="640080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222222"/>
                </a:solidFill>
                <a:latin typeface="Trebuchet MS"/>
              </a:rPr>
              <a:t>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55648"/>
            <a:ext cx="2231136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22222"/>
                </a:solidFill>
                <a:latin typeface="Calibri"/>
              </a:rPr>
              <a:t>Smart Ledger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B6B"/>
                </a:solidFill>
                <a:latin typeface="Calibri"/>
              </a:rPr>
              <a:t>Transactions grouped by day with monthly totals.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17136" y="1554480"/>
            <a:ext cx="3419856" cy="1481328"/>
          </a:xfrm>
          <a:prstGeom prst="roundRect">
            <a:avLst>
              <a:gd name="adj" fmla="val 7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745736" y="1810512"/>
            <a:ext cx="640080" cy="640080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222222"/>
                </a:solidFill>
                <a:latin typeface="Trebuchet MS"/>
              </a:rPr>
              <a:t>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522976" y="1755648"/>
            <a:ext cx="2231136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22222"/>
                </a:solidFill>
                <a:latin typeface="Calibri"/>
              </a:rPr>
              <a:t>Quick Record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B6B"/>
                </a:solidFill>
                <a:latin typeface="Calibri"/>
              </a:rPr>
              <a:t>Custom keypad, category grid, date &amp; note.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11312" y="1554480"/>
            <a:ext cx="3419856" cy="1481328"/>
          </a:xfrm>
          <a:prstGeom prst="roundRect">
            <a:avLst>
              <a:gd name="adj" fmla="val 7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439912" y="1810512"/>
            <a:ext cx="640080" cy="640080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222222"/>
                </a:solidFill>
                <a:latin typeface="Trebuchet MS"/>
              </a:rPr>
              <a:t>📊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217152" y="1755648"/>
            <a:ext cx="2231136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22222"/>
                </a:solidFill>
                <a:latin typeface="Calibri"/>
              </a:rPr>
              <a:t>Charts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B6B"/>
                </a:solidFill>
                <a:latin typeface="Calibri"/>
              </a:rPr>
              <a:t>Week / Month / Year trend + category breakdown.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10128"/>
            <a:ext cx="3419856" cy="1481328"/>
          </a:xfrm>
          <a:prstGeom prst="roundRect">
            <a:avLst>
              <a:gd name="adj" fmla="val 7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1051560" y="3566160"/>
            <a:ext cx="640080" cy="640080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222222"/>
                </a:solidFill>
                <a:latin typeface="Trebuchet MS"/>
              </a:rP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3511296"/>
            <a:ext cx="2231136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22222"/>
                </a:solidFill>
                <a:latin typeface="Calibri"/>
              </a:rPr>
              <a:t>Budget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B6B"/>
                </a:solidFill>
                <a:latin typeface="Calibri"/>
              </a:rPr>
              <a:t>Set a monthly limit; track remaining balance.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17136" y="3310128"/>
            <a:ext cx="3419856" cy="1481328"/>
          </a:xfrm>
          <a:prstGeom prst="roundRect">
            <a:avLst>
              <a:gd name="adj" fmla="val 7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745736" y="3566160"/>
            <a:ext cx="640080" cy="640080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222222"/>
                </a:solidFill>
                <a:latin typeface="Trebuchet MS"/>
              </a:rPr>
              <a:t>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22976" y="3511296"/>
            <a:ext cx="2231136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22222"/>
                </a:solidFill>
                <a:latin typeface="Calibri"/>
              </a:rPr>
              <a:t>Statistics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B6B"/>
                </a:solidFill>
                <a:latin typeface="Calibri"/>
              </a:rPr>
              <a:t>Lifetime income, expense, balance &amp; activity.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211312" y="3310128"/>
            <a:ext cx="3419856" cy="1481328"/>
          </a:xfrm>
          <a:prstGeom prst="roundRect">
            <a:avLst>
              <a:gd name="adj" fmla="val 7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439912" y="3566160"/>
            <a:ext cx="640080" cy="640080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2000" b="1">
                <a:solidFill>
                  <a:srgbClr val="222222"/>
                </a:solidFill>
                <a:latin typeface="Trebuchet MS"/>
              </a:rPr>
              <a:t>☁️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17152" y="3511296"/>
            <a:ext cx="2231136" cy="12070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500" b="1" i="0">
                <a:solidFill>
                  <a:srgbClr val="222222"/>
                </a:solidFill>
                <a:latin typeface="Calibri"/>
              </a:rPr>
              <a:t>Cloud Database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50" b="0" i="0">
                <a:solidFill>
                  <a:srgbClr val="6B6B6B"/>
                </a:solidFill>
                <a:latin typeface="Calibri"/>
              </a:rPr>
              <a:t>Stored in Cloud Firestore, synced in realtime.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57784"/>
            <a:ext cx="237744" cy="237744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02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22222"/>
                </a:solidFill>
                <a:latin typeface="Trebuchet MS"/>
              </a:rPr>
              <a:t>CRUD at the Core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B6B6B"/>
                </a:solidFill>
                <a:latin typeface="Calibri"/>
              </a:rPr>
              <a:t>Every requirement maps to a real feature, all driven by one Provider.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2615184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2057400"/>
            <a:ext cx="2615184" cy="10972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627632" y="2468880"/>
            <a:ext cx="1005840" cy="1005840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Trebuchet MS"/>
              </a:rPr>
              <a:t>C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657600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222222"/>
                </a:solidFill>
                <a:latin typeface="Trebuchet MS"/>
              </a:rPr>
              <a:t>Create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20624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Add a record via the keypad, category grid, date picker and note.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599" y="2057400"/>
            <a:ext cx="2615184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657599" y="2057400"/>
            <a:ext cx="2615184" cy="109728"/>
          </a:xfrm>
          <a:prstGeom prst="rect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462272" y="2468880"/>
            <a:ext cx="1005840" cy="1005840"/>
          </a:xfrm>
          <a:prstGeom prst="ellipse">
            <a:avLst/>
          </a:prstGeom>
          <a:solidFill>
            <a:srgbClr val="2E9E5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Trebuchet MS"/>
              </a:rPr>
              <a:t>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79" y="3657600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222222"/>
                </a:solidFill>
                <a:latin typeface="Trebuchet MS"/>
              </a:rPr>
              <a:t>Read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13631" y="420624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Browse the Ledger grouped by day; open any record in Detail.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92240" y="2057400"/>
            <a:ext cx="2615184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492240" y="2057400"/>
            <a:ext cx="2615184" cy="109728"/>
          </a:xfrm>
          <a:prstGeom prst="rect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296912" y="2468880"/>
            <a:ext cx="1005840" cy="1005840"/>
          </a:xfrm>
          <a:prstGeom prst="ellipse">
            <a:avLst/>
          </a:prstGeom>
          <a:solidFill>
            <a:srgbClr val="3B82C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Trebuchet MS"/>
              </a:rPr>
              <a:t>U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75120" y="3657600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222222"/>
                </a:solidFill>
                <a:latin typeface="Trebuchet MS"/>
              </a:rPr>
              <a:t>Update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48272" y="420624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Edit a record — the Add screen reopens pre-filled.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326880" y="2057400"/>
            <a:ext cx="2615184" cy="31089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326880" y="2057400"/>
            <a:ext cx="2615184" cy="109728"/>
          </a:xfrm>
          <a:prstGeom prst="rect">
            <a:avLst/>
          </a:prstGeom>
          <a:solidFill>
            <a:srgbClr val="E5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0131551" y="2468880"/>
            <a:ext cx="1005840" cy="1005840"/>
          </a:xfrm>
          <a:prstGeom prst="ellipse">
            <a:avLst/>
          </a:prstGeom>
          <a:solidFill>
            <a:srgbClr val="E553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4000" b="1">
                <a:solidFill>
                  <a:srgbClr val="FFFFFF"/>
                </a:solidFill>
                <a:latin typeface="Trebuchet MS"/>
              </a:rPr>
              <a:t>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59" y="3657600"/>
            <a:ext cx="2249424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900" b="1" i="0">
                <a:solidFill>
                  <a:srgbClr val="222222"/>
                </a:solidFill>
                <a:latin typeface="Trebuchet MS"/>
              </a:rPr>
              <a:t>Delete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582911" y="4206240"/>
            <a:ext cx="21031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Remove a record with a confirm dialog, or clear 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57784"/>
            <a:ext cx="237744" cy="237744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02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22222"/>
                </a:solidFill>
                <a:latin typeface="Trebuchet MS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B6B6B"/>
                </a:solidFill>
                <a:latin typeface="Calibri"/>
              </a:rPr>
              <a:t>A clean, layered design — the UI never touches storage directly.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057400"/>
            <a:ext cx="7863840" cy="841248"/>
          </a:xfrm>
          <a:prstGeom prst="roundRect">
            <a:avLst>
              <a:gd name="adj" fmla="val 5000"/>
            </a:avLst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2057400"/>
            <a:ext cx="73152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222222"/>
                </a:solidFill>
                <a:latin typeface="Calibri"/>
              </a:rPr>
              <a:t>UI Layer   </a:t>
            </a:r>
            <a:r>
              <a:rPr sz="1450" b="0" i="0">
                <a:solidFill>
                  <a:srgbClr val="222222"/>
                </a:solidFill>
                <a:latin typeface="Calibri"/>
              </a:rPr>
              <a:t>Ledger · Charts · Discover · Profile · Add / Edit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898648"/>
            <a:ext cx="7863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6B6B"/>
                </a:solidFill>
                <a:latin typeface="Calibri"/>
              </a:rPr>
              <a:t>↓  context.watch / read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3282696"/>
            <a:ext cx="7863840" cy="841248"/>
          </a:xfrm>
          <a:prstGeom prst="roundRect">
            <a:avLst>
              <a:gd name="adj" fmla="val 5000"/>
            </a:avLst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43000" y="3282696"/>
            <a:ext cx="73152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State Layer   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TransactionProvider  (ChangeNotifier) — CRUD, totals, 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23944"/>
            <a:ext cx="7863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6B6B"/>
                </a:solidFill>
                <a:latin typeface="Calibri"/>
              </a:rPr>
              <a:t>↓  toMap / fromMap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" y="4507992"/>
            <a:ext cx="7863840" cy="841248"/>
          </a:xfrm>
          <a:prstGeom prst="roundRect">
            <a:avLst>
              <a:gd name="adj" fmla="val 5000"/>
            </a:avLst>
          </a:prstGeom>
          <a:solidFill>
            <a:srgbClr val="5555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4507992"/>
            <a:ext cx="73152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Model Layer   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Transaction · Category · TransactionType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49240"/>
            <a:ext cx="7863840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100" b="0" i="1">
                <a:solidFill>
                  <a:srgbClr val="6B6B6B"/>
                </a:solidFill>
                <a:latin typeface="Calibri"/>
              </a:rPr>
              <a:t>↓  snapshots / set / delete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2960" y="5733288"/>
            <a:ext cx="7863840" cy="841248"/>
          </a:xfrm>
          <a:prstGeom prst="roundRect">
            <a:avLst>
              <a:gd name="adj" fmla="val 5000"/>
            </a:avLst>
          </a:prstGeom>
          <a:solidFill>
            <a:srgbClr val="80808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143000" y="5733288"/>
            <a:ext cx="7315200" cy="8412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50" b="1" i="0">
                <a:solidFill>
                  <a:srgbClr val="FFFFFF"/>
                </a:solidFill>
                <a:latin typeface="Calibri"/>
              </a:rPr>
              <a:t>Storage Layer   </a:t>
            </a:r>
            <a:r>
              <a:rPr sz="1450" b="0" i="0">
                <a:solidFill>
                  <a:srgbClr val="FFFFFF"/>
                </a:solidFill>
                <a:latin typeface="Calibri"/>
              </a:rPr>
              <a:t>Cloud Firestore  (realtime NoSQL database)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06840" y="2057400"/>
            <a:ext cx="2377440" cy="4041648"/>
          </a:xfrm>
          <a:prstGeom prst="roundRect">
            <a:avLst>
              <a:gd name="adj" fmla="val 6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2331720"/>
            <a:ext cx="19202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222222"/>
                </a:solidFill>
                <a:latin typeface="Trebuchet MS"/>
              </a:rPr>
              <a:t>Why it works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• Single source of truth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• UI rebuilds on change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• Logic easy to test</a:t>
            </a: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• Realtime cloud sync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57784"/>
            <a:ext cx="237744" cy="237744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02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22222"/>
                </a:solidFill>
                <a:latin typeface="Trebuchet MS"/>
              </a:rPr>
              <a:t>Technology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2615184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822960" y="1600200"/>
            <a:ext cx="91440" cy="120700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783080"/>
            <a:ext cx="2203703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2222"/>
                </a:solidFill>
                <a:latin typeface="Trebuchet MS"/>
              </a:rPr>
              <a:t>Flutter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Cross-platform UI toolkit (Material 3)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599" y="1600200"/>
            <a:ext cx="2615184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3657599" y="1600200"/>
            <a:ext cx="91440" cy="120700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931920" y="1783080"/>
            <a:ext cx="2203703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2222"/>
                </a:solidFill>
                <a:latin typeface="Trebuchet MS"/>
              </a:rPr>
              <a:t>Dart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Application language (SDK ^3.11)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92240" y="1600200"/>
            <a:ext cx="2615184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92240" y="1600200"/>
            <a:ext cx="91440" cy="120700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66559" y="1783080"/>
            <a:ext cx="2203703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2222"/>
                </a:solidFill>
                <a:latin typeface="Trebuchet MS"/>
              </a:rPr>
              <a:t>firebase_core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Firebase initialisation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326880" y="1600200"/>
            <a:ext cx="2615184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326880" y="1600200"/>
            <a:ext cx="91440" cy="120700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601200" y="1783080"/>
            <a:ext cx="2203703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2222"/>
                </a:solidFill>
                <a:latin typeface="Trebuchet MS"/>
              </a:rPr>
              <a:t>cloud_firestore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Realtime cloud database (CRUD)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3063240"/>
            <a:ext cx="2615184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22960" y="3063240"/>
            <a:ext cx="91440" cy="120700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97280" y="3246120"/>
            <a:ext cx="2203703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2222"/>
                </a:solidFill>
                <a:latin typeface="Trebuchet MS"/>
              </a:rPr>
              <a:t>provider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ChangeNotifier state management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657599" y="3063240"/>
            <a:ext cx="2615184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3657599" y="3063240"/>
            <a:ext cx="91440" cy="120700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931920" y="3246120"/>
            <a:ext cx="2203703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2222"/>
                </a:solidFill>
                <a:latin typeface="Trebuchet MS"/>
              </a:rPr>
              <a:t>intl · uuid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Formatting &amp; unique IDs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92240" y="3063240"/>
            <a:ext cx="2615184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92240" y="3063240"/>
            <a:ext cx="91440" cy="120700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766559" y="3246120"/>
            <a:ext cx="2203703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2222"/>
                </a:solidFill>
                <a:latin typeface="Trebuchet MS"/>
              </a:rPr>
              <a:t>flutter_test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Unit &amp; widget testing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9326880" y="3063240"/>
            <a:ext cx="2615184" cy="1207008"/>
          </a:xfrm>
          <a:prstGeom prst="roundRect">
            <a:avLst>
              <a:gd name="adj" fmla="val 7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326880" y="3063240"/>
            <a:ext cx="91440" cy="1207008"/>
          </a:xfrm>
          <a:prstGeom prst="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601200" y="3246120"/>
            <a:ext cx="2203703" cy="93268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1" i="0">
                <a:solidFill>
                  <a:srgbClr val="222222"/>
                </a:solidFill>
                <a:latin typeface="Trebuchet MS"/>
              </a:rPr>
              <a:t>Git + GitHub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400"/>
              </a:spcAft>
            </a:pPr>
            <a:r>
              <a:rPr sz="1100" b="0" i="0">
                <a:solidFill>
                  <a:srgbClr val="6B6B6B"/>
                </a:solidFill>
                <a:latin typeface="Calibri"/>
              </a:rPr>
              <a:t>Version control &amp; collaboration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57784"/>
            <a:ext cx="237744" cy="237744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02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22222"/>
                </a:solidFill>
                <a:latin typeface="Trebuchet MS"/>
              </a:rPr>
              <a:t>State &amp; Persistence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51206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22222"/>
                </a:solidFill>
                <a:latin typeface="Trebuchet MS"/>
              </a:rPr>
              <a:t>Provider as the single source of truth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6B6B6B"/>
                </a:solidFill>
                <a:latin typeface="Calibri"/>
              </a:rPr>
              <a:t>TransactionProvider extends ChangeNotifier. Each CRUD method mutates the list, saves to storage, then calls notifyListeners() so every watching widget rebuilds automatically.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700" b="1" i="0">
                <a:solidFill>
                  <a:srgbClr val="222222"/>
                </a:solidFill>
                <a:latin typeface="Trebuchet MS"/>
              </a:rPr>
              <a:t>Cloud persistence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6B6B6B"/>
                </a:solidFill>
                <a:latin typeface="Calibri"/>
              </a:rPr>
              <a:t>Each transaction is a document in Cloud Firestore. A realtime snapshot listener streams changes back, so the UI updates instantly across devices.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309360" y="1463040"/>
            <a:ext cx="5029200" cy="4114800"/>
          </a:xfrm>
          <a:prstGeom prst="roundRect">
            <a:avLst>
              <a:gd name="adj" fmla="val 4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537960" y="1691640"/>
            <a:ext cx="466344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100"/>
              </a:spcAft>
            </a:pPr>
            <a:r>
              <a:rPr sz="1150">
                <a:solidFill>
                  <a:srgbClr val="BDBDBD"/>
                </a:solidFill>
                <a:latin typeface="Consolas"/>
              </a:rPr>
              <a:t>// Realtime read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FFC107"/>
                </a:solidFill>
                <a:latin typeface="Consolas"/>
              </a:rPr>
              <a:t>_txCol.snapshots().listen((snap) {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  _transactions = snap.docs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      .map((d) =&gt;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          Transaction.fromMap(d.data()))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      .toList();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  notifyListeners();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FFC107"/>
                </a:solidFill>
                <a:latin typeface="Consolas"/>
              </a:rPr>
              <a:t>});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BDBDBD"/>
                </a:solidFill>
                <a:latin typeface="Consolas"/>
              </a:rPr>
              <a:t>// Create / Update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await _txCol.doc(t.id).set(t.toMap());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 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BDBDBD"/>
                </a:solidFill>
                <a:latin typeface="Consolas"/>
              </a:rPr>
              <a:t>// Delete</a:t>
            </a:r>
          </a:p>
          <a:p>
            <a:pPr>
              <a:spcAft>
                <a:spcPts val="100"/>
              </a:spcAft>
            </a:pPr>
            <a:r>
              <a:rPr sz="1150">
                <a:solidFill>
                  <a:srgbClr val="FFFFFF"/>
                </a:solidFill>
                <a:latin typeface="Consolas"/>
              </a:rPr>
              <a:t>await _txCol.doc(id).delete();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57784"/>
            <a:ext cx="237744" cy="237744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02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22222"/>
                </a:solidFill>
                <a:latin typeface="Trebuchet MS"/>
              </a:rPr>
              <a:t>UI / UX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71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1">
                <a:solidFill>
                  <a:srgbClr val="6B6B6B"/>
                </a:solidFill>
                <a:latin typeface="Calibri"/>
              </a:rPr>
              <a:t>Material 3 · amber brand colour · familiar daily-ledger layout.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965960"/>
            <a:ext cx="2542032" cy="356616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2542032" cy="3566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6B6B6B"/>
                </a:solidFill>
                <a:latin typeface="Calibri"/>
              </a:rPr>
              <a:t>🖼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Ledger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6B6B"/>
                </a:solidFill>
                <a:latin typeface="Calibri"/>
              </a:rPr>
              <a:t>[ insert screenshot 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84447" y="1965960"/>
            <a:ext cx="2542032" cy="356616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84447" y="1965960"/>
            <a:ext cx="2542032" cy="3566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6B6B6B"/>
                </a:solidFill>
                <a:latin typeface="Calibri"/>
              </a:rPr>
              <a:t>🖼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Add Record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6B6B"/>
                </a:solidFill>
                <a:latin typeface="Calibri"/>
              </a:rPr>
              <a:t>[ insert screenshot 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345936" y="1965960"/>
            <a:ext cx="2542032" cy="356616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45936" y="1965960"/>
            <a:ext cx="2542032" cy="3566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6B6B6B"/>
                </a:solidFill>
                <a:latin typeface="Calibri"/>
              </a:rPr>
              <a:t>🖼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Charts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6B6B"/>
                </a:solidFill>
                <a:latin typeface="Calibri"/>
              </a:rPr>
              <a:t>[ insert screenshot 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07424" y="1965960"/>
            <a:ext cx="2542032" cy="3566160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 w="1905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07424" y="1965960"/>
            <a:ext cx="2542032" cy="35661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6B6B6B"/>
                </a:solidFill>
                <a:latin typeface="Calibri"/>
              </a:rPr>
              <a:t>🖼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222222"/>
                </a:solidFill>
                <a:latin typeface="Calibri"/>
              </a:rPr>
              <a:t>Profile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6B6B6B"/>
                </a:solidFill>
                <a:latin typeface="Calibri"/>
              </a:rPr>
              <a:t>[ insert screenshot 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148840"/>
            <a:ext cx="73152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4800" b="1" i="0">
                <a:solidFill>
                  <a:srgbClr val="FFC107"/>
                </a:solidFill>
                <a:latin typeface="Trebuchet MS"/>
              </a:rPr>
              <a:t>Live Demo</a:t>
            </a:r>
          </a:p>
        </p:txBody>
      </p:sp>
      <p:sp>
        <p:nvSpPr>
          <p:cNvPr id="4" name="Rectangle 3"/>
          <p:cNvSpPr/>
          <p:nvPr/>
        </p:nvSpPr>
        <p:spPr>
          <a:xfrm>
            <a:off x="868680" y="3200400"/>
            <a:ext cx="548640" cy="6400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868680" y="3520440"/>
            <a:ext cx="384048" cy="384048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222222"/>
                </a:solidFill>
                <a:latin typeface="Trebuchet MS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3520440"/>
            <a:ext cx="6400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Add an expense with the keypad</a:t>
            </a:r>
          </a:p>
        </p:txBody>
      </p:sp>
      <p:sp>
        <p:nvSpPr>
          <p:cNvPr id="7" name="Oval 6"/>
          <p:cNvSpPr/>
          <p:nvPr/>
        </p:nvSpPr>
        <p:spPr>
          <a:xfrm>
            <a:off x="868680" y="4123944"/>
            <a:ext cx="384048" cy="384048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222222"/>
                </a:solidFill>
                <a:latin typeface="Trebuchet MS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17320" y="4123944"/>
            <a:ext cx="6400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Watch it appear in today's ledger</a:t>
            </a:r>
          </a:p>
        </p:txBody>
      </p:sp>
      <p:sp>
        <p:nvSpPr>
          <p:cNvPr id="9" name="Oval 8"/>
          <p:cNvSpPr/>
          <p:nvPr/>
        </p:nvSpPr>
        <p:spPr>
          <a:xfrm>
            <a:off x="868680" y="4727448"/>
            <a:ext cx="384048" cy="384048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222222"/>
                </a:solidFill>
                <a:latin typeface="Trebuchet MS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17320" y="4727448"/>
            <a:ext cx="6400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Open it, edit the amount, delete it</a:t>
            </a:r>
          </a:p>
        </p:txBody>
      </p:sp>
      <p:sp>
        <p:nvSpPr>
          <p:cNvPr id="11" name="Oval 10"/>
          <p:cNvSpPr/>
          <p:nvPr/>
        </p:nvSpPr>
        <p:spPr>
          <a:xfrm>
            <a:off x="868680" y="5330952"/>
            <a:ext cx="384048" cy="384048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600" b="1">
                <a:solidFill>
                  <a:srgbClr val="222222"/>
                </a:solidFill>
                <a:latin typeface="Trebuchet MS"/>
              </a:rP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5330952"/>
            <a:ext cx="64008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600" b="0" i="0">
                <a:solidFill>
                  <a:srgbClr val="FFFFFF"/>
                </a:solidFill>
                <a:latin typeface="Calibri"/>
              </a:rPr>
              <a:t>Set a budget · view the charts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595360" y="1554480"/>
            <a:ext cx="2743200" cy="3749039"/>
          </a:xfrm>
          <a:prstGeom prst="roundRect">
            <a:avLst>
              <a:gd name="adj" fmla="val 8000"/>
            </a:avLst>
          </a:prstGeom>
          <a:solidFill>
            <a:srgbClr val="2C2C2C"/>
          </a:solidFill>
          <a:ln w="19050">
            <a:solidFill>
              <a:srgbClr val="FFC10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95360" y="1554480"/>
            <a:ext cx="2743200" cy="374903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3000" b="0" i="0">
                <a:solidFill>
                  <a:srgbClr val="FFC107"/>
                </a:solidFill>
                <a:latin typeface="Calibri"/>
              </a:rPr>
              <a:t>🖼</a:t>
            </a:r>
          </a:p>
          <a:p>
            <a:pPr algn="ctr">
              <a:spcBef>
                <a:spcPts val="0"/>
              </a:spcBef>
              <a:spcAft>
                <a:spcPts val="3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App Demo</a:t>
            </a:r>
          </a:p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000" b="0" i="1">
                <a:solidFill>
                  <a:srgbClr val="BDBDBD"/>
                </a:solidFill>
                <a:latin typeface="Calibri"/>
              </a:rPr>
              <a:t>[ insert screenshot ]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57784"/>
            <a:ext cx="237744" cy="237744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02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22222"/>
                </a:solidFill>
                <a:latin typeface="Trebuchet MS"/>
              </a:rPr>
              <a:t>Testing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00200"/>
            <a:ext cx="3657600" cy="2103120"/>
          </a:xfrm>
          <a:prstGeom prst="roundRect">
            <a:avLst>
              <a:gd name="adj" fmla="val 6000"/>
            </a:avLst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828800"/>
            <a:ext cx="365760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5200" b="1" i="0">
                <a:solidFill>
                  <a:srgbClr val="FFC107"/>
                </a:solidFill>
                <a:latin typeface="Trebuchet MS"/>
              </a:rP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automated tests passing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1600200"/>
            <a:ext cx="6400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22222"/>
                </a:solidFill>
                <a:latin typeface="Trebuchet MS"/>
              </a:rPr>
              <a:t>What we tested</a:t>
            </a:r>
          </a:p>
        </p:txBody>
      </p:sp>
      <p:sp>
        <p:nvSpPr>
          <p:cNvPr id="9" name="Oval 8"/>
          <p:cNvSpPr/>
          <p:nvPr/>
        </p:nvSpPr>
        <p:spPr>
          <a:xfrm>
            <a:off x="4846320" y="2148840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222222"/>
                </a:solidFill>
                <a:latin typeface="Trebuchet M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49240" y="2112264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22222"/>
                </a:solidFill>
                <a:latin typeface="Calibri"/>
              </a:rPr>
              <a:t>Unit — Model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Serialisation round-trips, copyWith, category labels.</a:t>
            </a:r>
          </a:p>
        </p:txBody>
      </p:sp>
      <p:sp>
        <p:nvSpPr>
          <p:cNvPr id="11" name="Oval 10"/>
          <p:cNvSpPr/>
          <p:nvPr/>
        </p:nvSpPr>
        <p:spPr>
          <a:xfrm>
            <a:off x="4846320" y="2990088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222222"/>
                </a:solidFill>
                <a:latin typeface="Trebuchet MS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49240" y="2953512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22222"/>
                </a:solidFill>
                <a:latin typeface="Calibri"/>
              </a:rPr>
              <a:t>Unit — Provider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CRUD + budget on an in-memory test database.</a:t>
            </a:r>
          </a:p>
        </p:txBody>
      </p:sp>
      <p:sp>
        <p:nvSpPr>
          <p:cNvPr id="13" name="Oval 12"/>
          <p:cNvSpPr/>
          <p:nvPr/>
        </p:nvSpPr>
        <p:spPr>
          <a:xfrm>
            <a:off x="4846320" y="3831336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222222"/>
                </a:solidFill>
                <a:latin typeface="Trebuchet M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349240" y="3794760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22222"/>
                </a:solidFill>
                <a:latin typeface="Calibri"/>
              </a:rPr>
              <a:t>Widget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App builds and the bottom navigation renders.</a:t>
            </a:r>
          </a:p>
        </p:txBody>
      </p:sp>
      <p:sp>
        <p:nvSpPr>
          <p:cNvPr id="15" name="Oval 14"/>
          <p:cNvSpPr/>
          <p:nvPr/>
        </p:nvSpPr>
        <p:spPr>
          <a:xfrm>
            <a:off x="4846320" y="4672584"/>
            <a:ext cx="365760" cy="365760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400" b="1">
                <a:solidFill>
                  <a:srgbClr val="222222"/>
                </a:solidFill>
                <a:latin typeface="Trebuchet M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349240" y="4636008"/>
            <a:ext cx="6035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1450" b="1" i="0">
                <a:solidFill>
                  <a:srgbClr val="222222"/>
                </a:solidFill>
                <a:latin typeface="Calibri"/>
              </a:rPr>
              <a:t>Manual</a:t>
            </a:r>
          </a:p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9 flows incl. data appearing live in the Firebase console.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57784"/>
            <a:ext cx="237744" cy="237744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02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22222"/>
                </a:solidFill>
                <a:latin typeface="Trebuchet MS"/>
              </a:rPr>
              <a:t>Team &amp; Contributions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645920"/>
            <a:ext cx="10515600" cy="713232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51560" y="1764792"/>
            <a:ext cx="475488" cy="475488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222222"/>
                </a:solidFill>
                <a:latin typeface="Trebuchet MS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83080" y="1645920"/>
            <a:ext cx="4663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222"/>
                </a:solidFill>
                <a:latin typeface="Calibri"/>
              </a:rPr>
              <a:t>Sazit Ul Islam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83680" y="1645920"/>
            <a:ext cx="4572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Project lead · State management &amp; data model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2487168"/>
            <a:ext cx="105156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1051560" y="2606040"/>
            <a:ext cx="475488" cy="475488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222222"/>
                </a:solidFill>
                <a:latin typeface="Trebuchet MS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83080" y="2487168"/>
            <a:ext cx="4663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222"/>
                </a:solidFill>
                <a:latin typeface="Calibri"/>
              </a:rPr>
              <a:t>Nur Aisyatul Najwa binti Mohamad Nasir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87168"/>
            <a:ext cx="4572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UI/UX · Ledger &amp; Detail screens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328416"/>
            <a:ext cx="10515600" cy="713232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051560" y="3447288"/>
            <a:ext cx="475488" cy="475488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222222"/>
                </a:solidFill>
                <a:latin typeface="Trebuchet MS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783080" y="3328416"/>
            <a:ext cx="4663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222"/>
                </a:solidFill>
                <a:latin typeface="Calibri"/>
              </a:rPr>
              <a:t>Nurfatin Aqilah binti Zolkifli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3328416"/>
            <a:ext cx="4572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Add/Edit &amp; Charts screens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169664"/>
            <a:ext cx="10515600" cy="7132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51560" y="4288536"/>
            <a:ext cx="475488" cy="475488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222222"/>
                </a:solidFill>
                <a:latin typeface="Trebuchet MS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783080" y="4169664"/>
            <a:ext cx="4663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222"/>
                </a:solidFill>
                <a:latin typeface="Calibri"/>
              </a:rPr>
              <a:t>Shi Kaiyan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0" y="4169664"/>
            <a:ext cx="4572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Discover, Profile · Firebase &amp; testing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010912"/>
            <a:ext cx="10515600" cy="713232"/>
          </a:xfrm>
          <a:prstGeom prst="roundRect">
            <a:avLst>
              <a:gd name="adj" fmla="val 8000"/>
            </a:avLst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51560" y="5129784"/>
            <a:ext cx="475488" cy="475488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222222"/>
                </a:solidFill>
                <a:latin typeface="Trebuchet MS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783080" y="5010912"/>
            <a:ext cx="466344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50" b="1" i="0">
                <a:solidFill>
                  <a:srgbClr val="222222"/>
                </a:solidFill>
                <a:latin typeface="Calibri"/>
              </a:rPr>
              <a:t>Mst Samiya Haque Kotha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83680" y="5010912"/>
            <a:ext cx="4572000" cy="71323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200" b="0" i="0">
                <a:solidFill>
                  <a:srgbClr val="6B6B6B"/>
                </a:solidFill>
                <a:latin typeface="Calibri"/>
              </a:rPr>
              <a:t>Documentation, report &amp; presentation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150" b="0" i="1">
                <a:solidFill>
                  <a:srgbClr val="6B6B6B"/>
                </a:solidFill>
                <a:latin typeface="Calibri"/>
              </a:rPr>
              <a:t>Every member contributed across design, development, testing &amp; docs. Source managed with Git + GitHub.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77240" y="557784"/>
            <a:ext cx="237744" cy="237744"/>
          </a:xfrm>
          <a:prstGeom prst="roundRect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  <a:latin typeface="Trebuchet MS"/>
              </a:rPr>
              <a:t/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502920"/>
            <a:ext cx="105156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3000" b="1" i="0">
                <a:solidFill>
                  <a:srgbClr val="222222"/>
                </a:solidFill>
                <a:latin typeface="Trebuchet MS"/>
              </a:rPr>
              <a:t>Challenges &amp; What's Next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5120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22222"/>
                </a:solidFill>
                <a:latin typeface="Trebuchet MS"/>
              </a:rPr>
              <a:t>Challenges we solved</a:t>
            </a:r>
          </a:p>
        </p:txBody>
      </p:sp>
      <p:sp>
        <p:nvSpPr>
          <p:cNvPr id="6" name="Oval 5"/>
          <p:cNvSpPr/>
          <p:nvPr/>
        </p:nvSpPr>
        <p:spPr>
          <a:xfrm>
            <a:off x="868680" y="2194560"/>
            <a:ext cx="329184" cy="329184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22222"/>
                </a:solidFill>
                <a:latin typeface="Trebuchet MS"/>
              </a:rPr>
              <a:t>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219456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Keeping UI in sync → single Provider</a:t>
            </a:r>
          </a:p>
        </p:txBody>
      </p:sp>
      <p:sp>
        <p:nvSpPr>
          <p:cNvPr id="8" name="Oval 7"/>
          <p:cNvSpPr/>
          <p:nvPr/>
        </p:nvSpPr>
        <p:spPr>
          <a:xfrm>
            <a:off x="868680" y="2871215"/>
            <a:ext cx="329184" cy="329184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22222"/>
                </a:solidFill>
                <a:latin typeface="Trebuchet MS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25880" y="2871215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Cloud data → Firestore + realtime listener</a:t>
            </a:r>
          </a:p>
        </p:txBody>
      </p:sp>
      <p:sp>
        <p:nvSpPr>
          <p:cNvPr id="10" name="Oval 9"/>
          <p:cNvSpPr/>
          <p:nvPr/>
        </p:nvSpPr>
        <p:spPr>
          <a:xfrm>
            <a:off x="868680" y="3547872"/>
            <a:ext cx="329184" cy="329184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22222"/>
                </a:solidFill>
                <a:latin typeface="Trebuchet M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25880" y="3547872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Trend chart → custom CustomPainter</a:t>
            </a:r>
          </a:p>
        </p:txBody>
      </p:sp>
      <p:sp>
        <p:nvSpPr>
          <p:cNvPr id="12" name="Oval 11"/>
          <p:cNvSpPr/>
          <p:nvPr/>
        </p:nvSpPr>
        <p:spPr>
          <a:xfrm>
            <a:off x="868680" y="4224527"/>
            <a:ext cx="329184" cy="329184"/>
          </a:xfrm>
          <a:prstGeom prst="ellipse">
            <a:avLst/>
          </a:prstGeom>
          <a:solidFill>
            <a:srgbClr val="FFC10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222222"/>
                </a:solidFill>
                <a:latin typeface="Trebuchet M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25880" y="4224527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Valid input → keypad guard rules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1554480"/>
            <a:ext cx="5029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700" b="1" i="0">
                <a:solidFill>
                  <a:srgbClr val="222222"/>
                </a:solidFill>
                <a:latin typeface="Trebuchet MS"/>
              </a:rPr>
              <a:t>Future enhancements</a:t>
            </a:r>
          </a:p>
        </p:txBody>
      </p:sp>
      <p:sp>
        <p:nvSpPr>
          <p:cNvPr id="15" name="Oval 14"/>
          <p:cNvSpPr/>
          <p:nvPr/>
        </p:nvSpPr>
        <p:spPr>
          <a:xfrm>
            <a:off x="6355080" y="2194560"/>
            <a:ext cx="329184" cy="32918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C107"/>
                </a:solidFill>
                <a:latin typeface="Trebuchet M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12280" y="2194560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User accounts (Firebase Auth)</a:t>
            </a:r>
          </a:p>
        </p:txBody>
      </p:sp>
      <p:sp>
        <p:nvSpPr>
          <p:cNvPr id="17" name="Oval 16"/>
          <p:cNvSpPr/>
          <p:nvPr/>
        </p:nvSpPr>
        <p:spPr>
          <a:xfrm>
            <a:off x="6355080" y="2779776"/>
            <a:ext cx="329184" cy="32918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C107"/>
                </a:solidFill>
                <a:latin typeface="Trebuchet MS"/>
              </a:rP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12280" y="2779776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Firestore security rules</a:t>
            </a:r>
          </a:p>
        </p:txBody>
      </p:sp>
      <p:sp>
        <p:nvSpPr>
          <p:cNvPr id="19" name="Oval 18"/>
          <p:cNvSpPr/>
          <p:nvPr/>
        </p:nvSpPr>
        <p:spPr>
          <a:xfrm>
            <a:off x="6355080" y="3364991"/>
            <a:ext cx="329184" cy="32918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C107"/>
                </a:solidFill>
                <a:latin typeface="Trebuchet MS"/>
              </a:rPr>
              <a:t>→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80" y="3364991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Export to CSV / PDF</a:t>
            </a:r>
          </a:p>
        </p:txBody>
      </p:sp>
      <p:sp>
        <p:nvSpPr>
          <p:cNvPr id="21" name="Oval 20"/>
          <p:cNvSpPr/>
          <p:nvPr/>
        </p:nvSpPr>
        <p:spPr>
          <a:xfrm>
            <a:off x="6355080" y="3950208"/>
            <a:ext cx="329184" cy="32918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C107"/>
                </a:solidFill>
                <a:latin typeface="Trebuchet MS"/>
              </a:rPr>
              <a:t>→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950208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Recurring bills &amp; reminders</a:t>
            </a:r>
          </a:p>
        </p:txBody>
      </p:sp>
      <p:sp>
        <p:nvSpPr>
          <p:cNvPr id="23" name="Oval 22"/>
          <p:cNvSpPr/>
          <p:nvPr/>
        </p:nvSpPr>
        <p:spPr>
          <a:xfrm>
            <a:off x="6355080" y="4535424"/>
            <a:ext cx="329184" cy="329184"/>
          </a:xfrm>
          <a:prstGeom prst="ellipse">
            <a:avLst/>
          </a:prstGeom>
          <a:solidFill>
            <a:srgbClr val="26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0" rIns="0" tIns="0" bIns="0"/>
          <a:lstStyle/>
          <a:p>
            <a:pPr algn="ctr"/>
            <a:r>
              <a:rPr sz="1300" b="1">
                <a:solidFill>
                  <a:srgbClr val="FFC107"/>
                </a:solidFill>
                <a:latin typeface="Trebuchet MS"/>
              </a:rPr>
              <a:t>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12280" y="4535424"/>
            <a:ext cx="45720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350" b="0" i="0">
                <a:solidFill>
                  <a:srgbClr val="222222"/>
                </a:solidFill>
                <a:latin typeface="Calibri"/>
              </a:rPr>
              <a:t>Dark mode &amp; multi-currency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1E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2286000"/>
            <a:ext cx="105156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5600" b="1" i="0">
                <a:solidFill>
                  <a:srgbClr val="FFC107"/>
                </a:solidFill>
                <a:latin typeface="Trebuchet MS"/>
              </a:rPr>
              <a:t>Thank You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352044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2200" b="1" i="0">
                <a:solidFill>
                  <a:srgbClr val="FFFFFF"/>
                </a:solidFill>
                <a:latin typeface="Trebuchet MS"/>
              </a:rPr>
              <a:t>My Wallet — Personal Expense Tracker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42062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500" b="0" i="1">
                <a:solidFill>
                  <a:srgbClr val="BDBDBD"/>
                </a:solidFill>
                <a:latin typeface="Calibri"/>
              </a:rPr>
              <a:t>Built with Flutter  ·  Firebase  ·  Cloud Firestore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50292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400"/>
              </a:spcAft>
            </a:pPr>
            <a:r>
              <a:rPr sz="1400" b="0" i="0">
                <a:solidFill>
                  <a:srgbClr val="FFC107"/>
                </a:solidFill>
                <a:latin typeface="Calibri"/>
              </a:rPr>
              <a:t>Questions &amp; demo  ·  github.com/LBBT-God/expense-tracker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