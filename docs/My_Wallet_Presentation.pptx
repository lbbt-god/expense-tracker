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C107"/>
                </a:solidFill>
                <a:latin typeface="Trebuchet MS"/>
              </a:rPr>
              <a:t>My Wallet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6766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Trebuchet MS"/>
              </a:rPr>
              <a:t>Personal Expense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1188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BDBDBD"/>
                </a:solidFill>
                <a:latin typeface="Calibri"/>
              </a:rPr>
              <a:t>A cross-platform CRUD mobile app built with Flutter &amp; Firebase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892040"/>
            <a:ext cx="457200" cy="54864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07492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DES3113 — Mobile App Design &amp; Development  ·  Project Pitch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BDBDBD"/>
                </a:solidFill>
                <a:latin typeface="Calibri"/>
              </a:rPr>
              <a:t>Team of 5  ·  Lecturer: Dr. Ahmad Wiraputra bin Selamat  · 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371600"/>
            <a:ext cx="3017520" cy="4206240"/>
          </a:xfrm>
          <a:prstGeom prst="roundRect">
            <a:avLst>
              <a:gd name="adj" fmla="val 8000"/>
            </a:avLst>
          </a:prstGeom>
          <a:solidFill>
            <a:srgbClr val="2C2C2C"/>
          </a:solidFill>
          <a:ln w="19050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7524" y="1517904"/>
            <a:ext cx="1681672" cy="3639311"/>
          </a:xfrm>
          <a:prstGeom prst="rect">
            <a:avLst/>
          </a:prstGeom>
          <a:ln w="12700">
            <a:solidFill>
              <a:srgbClr val="FFC10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229600" y="5193792"/>
            <a:ext cx="30175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Ledger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222222"/>
                </a:solidFill>
                <a:latin typeface="Trebuchet MS"/>
              </a:rPr>
              <a:t>Where does my money actually go?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Calibri"/>
              </a:rPr>
              <a:t>Small, frequent purchases are easy to forget and quickly add up. Most finance apps are cluttered, ad-heavy, or hide the basics behind a paywall.</a:t>
            </a:r>
          </a:p>
        </p:txBody>
      </p:sp>
      <p:sp>
        <p:nvSpPr>
          <p:cNvPr id="6" name="Oval 5"/>
          <p:cNvSpPr/>
          <p:nvPr/>
        </p:nvSpPr>
        <p:spPr>
          <a:xfrm>
            <a:off x="6766560" y="1508760"/>
            <a:ext cx="566928" cy="566928"/>
          </a:xfrm>
          <a:prstGeom prst="ellipse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490472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Hard to track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Calibri"/>
              </a:rPr>
              <a:t>Daily cash spending slips through the cracks.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2587752"/>
            <a:ext cx="566928" cy="566928"/>
          </a:xfrm>
          <a:prstGeom prst="ellipse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569464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Too complex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Calibri"/>
              </a:rPr>
              <a:t>Existing apps are bloated and confusing.</a:t>
            </a:r>
          </a:p>
        </p:txBody>
      </p:sp>
      <p:sp>
        <p:nvSpPr>
          <p:cNvPr id="10" name="Oval 9"/>
          <p:cNvSpPr/>
          <p:nvPr/>
        </p:nvSpPr>
        <p:spPr>
          <a:xfrm>
            <a:off x="6766560" y="3666744"/>
            <a:ext cx="566928" cy="566928"/>
          </a:xfrm>
          <a:prstGeom prst="ellipse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648456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No backup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Calibri"/>
              </a:rPr>
              <a:t>Records trapped on one phone — lost if it's gone.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4745736"/>
            <a:ext cx="566928" cy="566928"/>
          </a:xfrm>
          <a:prstGeom prst="ellipse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727448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No insight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Calibri"/>
              </a:rPr>
              <a:t>Spending patterns and budgets aren't obvious.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400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222222"/>
                </a:solidFill>
                <a:latin typeface="Trebuchet MS"/>
              </a:rPr>
              <a:t>A fast, simple, cloud-backed ledger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6B6B6B"/>
                </a:solidFill>
                <a:latin typeface="Calibri"/>
              </a:rPr>
              <a:t>My Wallet lets you record income and expenses in seconds, browse them by day and month, see spending trends, and stay on budget — with every record stored safely in the cloud and synced in realtime.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3246120"/>
            <a:ext cx="310896" cy="310896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3246120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Record a transaction in just a few taps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813048"/>
            <a:ext cx="310896" cy="310896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813048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Browse by day, switch between months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379976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Charts and category breakdown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946904"/>
            <a:ext cx="310896" cy="310896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946904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Monthly budget tracking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5513831"/>
            <a:ext cx="310896" cy="310896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513831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Realtime cloud sync with Firebase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417320"/>
            <a:ext cx="3017520" cy="429768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5_dis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6397" y="1563624"/>
            <a:ext cx="1723926" cy="3730752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8229600" y="5330952"/>
            <a:ext cx="30175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222"/>
                </a:solidFill>
                <a:latin typeface="Calibri"/>
              </a:rPr>
              <a:t>Budget &amp; Stats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Key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1810512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55648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Smart Ledger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Transactions grouped by day with monthly totals.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1554480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45736" y="1810512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2976" y="1755648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Quick Record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Custom keypad, category grid, date &amp; note.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11312" y="1554480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39912" y="1810512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17152" y="1755648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Charts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Week / Month / Year trend + category breakdown.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10128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566160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511296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Budget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Set a monthly limit; track remaining balance.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17136" y="3310128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45736" y="3566160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3511296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Statistics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Lifetime income, expense, balance &amp; activity.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1312" y="3310128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39912" y="3566160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☁️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3511296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Cloud Database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Stored in Cloud Firestore, synced in realtime.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CRUD at the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6B6B6B"/>
                </a:solidFill>
                <a:latin typeface="Calibri"/>
              </a:rPr>
              <a:t>Every requirement maps to a real feature, all driven by one Provider.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2615184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2615184" cy="10972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468880"/>
            <a:ext cx="1005840" cy="100584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Trebuchet MS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5760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22222"/>
                </a:solidFill>
                <a:latin typeface="Trebuchet MS"/>
              </a:rPr>
              <a:t>Create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20624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Add a record via the keypad, category grid, date picker and note.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599" y="2057400"/>
            <a:ext cx="2615184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599" y="2057400"/>
            <a:ext cx="2615184" cy="10972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62272" y="2468880"/>
            <a:ext cx="1005840" cy="100584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Trebuchet MS"/>
              </a:rPr>
              <a:t>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79" y="365760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22222"/>
                </a:solidFill>
                <a:latin typeface="Trebuchet MS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3631" y="420624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Browse the Ledger grouped by day; open any record in Detail.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057400"/>
            <a:ext cx="2615184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2057400"/>
            <a:ext cx="2615184" cy="109728"/>
          </a:xfrm>
          <a:prstGeom prst="rect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96912" y="2468880"/>
            <a:ext cx="1005840" cy="1005840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Trebuchet MS"/>
              </a:rPr>
              <a:t>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65760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22222"/>
                </a:solidFill>
                <a:latin typeface="Trebuchet MS"/>
              </a:rPr>
              <a:t>Update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420624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Edit a record — the Add screen reopens pre-filled.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057400"/>
            <a:ext cx="2615184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880" y="2057400"/>
            <a:ext cx="2615184" cy="109728"/>
          </a:xfrm>
          <a:prstGeom prst="rect">
            <a:avLst/>
          </a:prstGeom>
          <a:solidFill>
            <a:srgbClr val="E55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31551" y="2468880"/>
            <a:ext cx="1005840" cy="1005840"/>
          </a:xfrm>
          <a:prstGeom prst="ellipse">
            <a:avLst/>
          </a:prstGeom>
          <a:solidFill>
            <a:srgbClr val="E55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Trebuchet MS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59" y="365760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22222"/>
                </a:solidFill>
                <a:latin typeface="Trebuchet MS"/>
              </a:rPr>
              <a:t>Delete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1" y="420624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Remove a record with a confirm dialog, or clear 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6B6B6B"/>
                </a:solidFill>
                <a:latin typeface="Calibri"/>
              </a:rPr>
              <a:t>A clean, layered design — the UI never touches storage directly.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7863840" cy="841248"/>
          </a:xfrm>
          <a:prstGeom prst="roundRect">
            <a:avLst>
              <a:gd name="adj" fmla="val 5000"/>
            </a:avLst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UI Layer   </a:t>
            </a:r>
            <a:r>
              <a:rPr sz="1450" b="0" i="0">
                <a:solidFill>
                  <a:srgbClr val="222222"/>
                </a:solidFill>
                <a:latin typeface="Calibri"/>
              </a:rPr>
              <a:t>Ledger · Charts · Record · Discover · Add / Edit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98648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6B6B"/>
                </a:solidFill>
                <a:latin typeface="Calibri"/>
              </a:rPr>
              <a:t>↓  context.watch /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82696"/>
            <a:ext cx="7863840" cy="841248"/>
          </a:xfrm>
          <a:prstGeom prst="roundRect">
            <a:avLst>
              <a:gd name="adj" fmla="val 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82696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State Layer 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TransactionProvider  (ChangeNotifier) — CRUD, totals,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23944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6B6B"/>
                </a:solidFill>
                <a:latin typeface="Calibri"/>
              </a:rPr>
              <a:t>↓  toMap / fromMap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507992"/>
            <a:ext cx="7863840" cy="841248"/>
          </a:xfrm>
          <a:prstGeom prst="roundRect">
            <a:avLst>
              <a:gd name="adj" fmla="val 5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507992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Model Layer 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Transaction · Category · TransactionType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6B6B"/>
                </a:solidFill>
                <a:latin typeface="Calibri"/>
              </a:rPr>
              <a:t>↓  snapshots / set / delete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733288"/>
            <a:ext cx="7863840" cy="841248"/>
          </a:xfrm>
          <a:prstGeom prst="roundRect">
            <a:avLst>
              <a:gd name="adj" fmla="val 5000"/>
            </a:avLst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733288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Storage Layer 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Cloud Firestore  (realtime NoSQL database)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2057400"/>
            <a:ext cx="2377440" cy="4041648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2331720"/>
            <a:ext cx="19202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22222"/>
                </a:solidFill>
                <a:latin typeface="Trebuchet MS"/>
              </a:rPr>
              <a:t>Why it works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• Single source of truth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• UI rebuilds on change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• Logic easy to test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• Realtime cloud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0020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0020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Flutter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Cross-platform UI toolkit (Material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599" y="160020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599" y="160020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178308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Dart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Application language (SDK ^3.11)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60020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60020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78308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firebase_core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Firebase initialisation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60020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26880" y="160020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8308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cloud_firestore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Realtime cloud database (CRUD)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06324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06324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24612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provider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ChangeNotifier state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599" y="306324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599" y="306324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24612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intl · uuid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Formatting &amp; unique IDs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306324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2240" y="306324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59" y="324612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flutter_test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Unit &amp; widget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306324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26880" y="306324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324612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Git + GitHub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Version control &amp; collaboration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State &amp; Persistence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Trebuchet MS"/>
              </a:rPr>
              <a:t>Provider as the single source of truth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 i="0">
                <a:solidFill>
                  <a:srgbClr val="6B6B6B"/>
                </a:solidFill>
                <a:latin typeface="Calibri"/>
              </a:rPr>
              <a:t>TransactionProvider extends ChangeNotifier. Each CRUD method mutates the list, saves to storage, then calls notifyListeners() so every watching widget rebuilds automatically.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Trebuchet MS"/>
              </a:rPr>
              <a:t>Cloud persistence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B"/>
                </a:solidFill>
                <a:latin typeface="Calibri"/>
              </a:rPr>
              <a:t>Each transaction is a document in Cloud Firestore. A realtime snapshot listener streams changes back, so the UI updates instantly across devices.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029200" cy="41148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69164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150">
                <a:solidFill>
                  <a:srgbClr val="BDBDBD"/>
                </a:solidFill>
                <a:latin typeface="Consolas"/>
              </a:rPr>
              <a:t>// Realtime read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C107"/>
                </a:solidFill>
                <a:latin typeface="Consolas"/>
              </a:rPr>
              <a:t>_txCol.snapshots().listen((snap) {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_transactions = snap.docs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    .map((d) =&gt;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        Transaction.fromMap(d.data()))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    .toList();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notifyListeners();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C107"/>
                </a:solidFill>
                <a:latin typeface="Consolas"/>
              </a:rPr>
              <a:t>});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BDBDBD"/>
                </a:solidFill>
                <a:latin typeface="Consolas"/>
              </a:rPr>
              <a:t>// Create / Update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await _txCol.doc(t.id).set(t.toMap());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BDBDBD"/>
                </a:solidFill>
                <a:latin typeface="Consolas"/>
              </a:rPr>
              <a:t>// Delete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await _txCol.doc(id).delete();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Cloud Database — Firebase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6B6B6B"/>
                </a:solidFill>
                <a:latin typeface="Calibri"/>
              </a:rPr>
              <a:t>Every record is a document in Cloud Firestore — created, updated and deleted in realtime.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468880" cy="402336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817" y="2157984"/>
            <a:ext cx="1597166" cy="3456432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246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222"/>
                </a:solidFill>
                <a:latin typeface="Calibri"/>
              </a:rPr>
              <a:t>App · Ledger</a:t>
            </a:r>
          </a:p>
        </p:txBody>
      </p:sp>
      <p:sp>
        <p:nvSpPr>
          <p:cNvPr id="9" name="Oval 8"/>
          <p:cNvSpPr/>
          <p:nvPr/>
        </p:nvSpPr>
        <p:spPr>
          <a:xfrm>
            <a:off x="3611880" y="3520440"/>
            <a:ext cx="868680" cy="8686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222222"/>
                </a:solidFill>
                <a:latin typeface="Trebuchet MS"/>
              </a:rPr>
              <a:t>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526280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222"/>
                </a:solidFill>
                <a:latin typeface="Calibri"/>
              </a:rPr>
              <a:t>Realtime sync</a:t>
            </a:r>
          </a:p>
        </p:txBody>
      </p:sp>
      <p:pic>
        <p:nvPicPr>
          <p:cNvPr id="11" name="Picture 10" descr="firebase_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48840"/>
            <a:ext cx="6812280" cy="2948279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4800600" y="5169754"/>
            <a:ext cx="6812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6B6B"/>
                </a:solidFill>
                <a:latin typeface="Calibri"/>
              </a:rPr>
              <a:t>Cloud Firestore · project des3113-7d1fe · transactions collection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5532120"/>
            <a:ext cx="6812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22222"/>
                </a:solidFill>
                <a:latin typeface="Calibri"/>
              </a:rPr>
              <a:t>transactions</a:t>
            </a:r>
            <a:r>
              <a:rPr sz="1200" b="0" i="0">
                <a:solidFill>
                  <a:srgbClr val="6B6B6B"/>
                </a:solidFill>
                <a:latin typeface="Calibri"/>
              </a:rPr>
              <a:t>  — one document per record; Create/Update via set(), Delete via delete().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Calibri"/>
              </a:rPr>
              <a:t>Fields</a:t>
            </a:r>
            <a:r>
              <a:rPr sz="1200" b="0" i="0">
                <a:solidFill>
                  <a:srgbClr val="6B6B6B"/>
                </a:solidFill>
                <a:latin typeface="Calibri"/>
              </a:rPr>
              <a:t>  — amount · category · type · date · title · note, mirroring the model.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UI / UX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6B6B6B"/>
                </a:solidFill>
                <a:latin typeface="Calibri"/>
              </a:rPr>
              <a:t>Material 3 · amber brand colour · familiar daily-ledger layout.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2542032" cy="356616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025" y="2112264"/>
            <a:ext cx="1385901" cy="2999232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5148072"/>
            <a:ext cx="254203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222"/>
                </a:solidFill>
                <a:latin typeface="Calibri"/>
              </a:rPr>
              <a:t>Ledger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447" y="1965960"/>
            <a:ext cx="2542032" cy="356616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add_rec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2512" y="2112264"/>
            <a:ext cx="1385901" cy="2999232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584447" y="5148072"/>
            <a:ext cx="254203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222"/>
                </a:solidFill>
                <a:latin typeface="Calibri"/>
              </a:rPr>
              <a:t>Add 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965960"/>
            <a:ext cx="2542032" cy="356616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4_cha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4001" y="2112264"/>
            <a:ext cx="1385901" cy="2999232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148072"/>
            <a:ext cx="254203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222"/>
                </a:solidFill>
                <a:latin typeface="Calibri"/>
              </a:rPr>
              <a:t>Charts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7424" y="1965960"/>
            <a:ext cx="2542032" cy="356616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5_disco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5489" y="2112264"/>
            <a:ext cx="1385901" cy="2999232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9107424" y="5148072"/>
            <a:ext cx="254203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222"/>
                </a:solidFill>
                <a:latin typeface="Calibri"/>
              </a:rPr>
              <a:t>Discover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Testing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002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C107"/>
                </a:solidFill>
                <a:latin typeface="Trebuchet MS"/>
              </a:rP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automated tests passing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0020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22222"/>
                </a:solidFill>
                <a:latin typeface="Trebuchet MS"/>
              </a:rPr>
              <a:t>What we tested</a:t>
            </a:r>
          </a:p>
        </p:txBody>
      </p:sp>
      <p:sp>
        <p:nvSpPr>
          <p:cNvPr id="9" name="Oval 8"/>
          <p:cNvSpPr/>
          <p:nvPr/>
        </p:nvSpPr>
        <p:spPr>
          <a:xfrm>
            <a:off x="4846320" y="2148840"/>
            <a:ext cx="365760" cy="36576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12264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Unit — Model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Serialisation round-trips, copyWith, category labels.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0" y="2990088"/>
            <a:ext cx="365760" cy="36576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953512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Unit — Provider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CRUD + budget on an in-memory test database.</a:t>
            </a:r>
          </a:p>
        </p:txBody>
      </p:sp>
      <p:sp>
        <p:nvSpPr>
          <p:cNvPr id="13" name="Oval 12"/>
          <p:cNvSpPr/>
          <p:nvPr/>
        </p:nvSpPr>
        <p:spPr>
          <a:xfrm>
            <a:off x="4846320" y="3831336"/>
            <a:ext cx="365760" cy="36576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79476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Widget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App builds and the bottom navigation renders.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4672584"/>
            <a:ext cx="365760" cy="36576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4636008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Manual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 flows incl. data appearing live in the Firebase console.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Team &amp; Contributions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10515600" cy="713232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1764792"/>
            <a:ext cx="475488" cy="47548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46634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222"/>
                </a:solidFill>
                <a:latin typeface="Calibri"/>
              </a:rPr>
              <a:t>Sazit Ul Islam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4572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Project lead · State management &amp; data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87168"/>
            <a:ext cx="105156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606040"/>
            <a:ext cx="475488" cy="47548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87168"/>
            <a:ext cx="46634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222"/>
                </a:solidFill>
                <a:latin typeface="Calibri"/>
              </a:rPr>
              <a:t>Nur Aisyatul Najwa binti Mohamad Nasir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87168"/>
            <a:ext cx="4572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UI/UX · Ledger &amp; Detail screens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28416"/>
            <a:ext cx="10515600" cy="713232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447288"/>
            <a:ext cx="475488" cy="47548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328416"/>
            <a:ext cx="46634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222"/>
                </a:solidFill>
                <a:latin typeface="Calibri"/>
              </a:rPr>
              <a:t>Nurfatin Aqilah binti Zolkifli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28416"/>
            <a:ext cx="4572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Add/Edit &amp; Charts screens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169664"/>
            <a:ext cx="105156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4288536"/>
            <a:ext cx="475488" cy="47548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169664"/>
            <a:ext cx="46634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222"/>
                </a:solidFill>
                <a:latin typeface="Calibri"/>
              </a:rPr>
              <a:t>Shi Kaiyan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169664"/>
            <a:ext cx="4572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Discover screen · Firebase &amp; testing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010912"/>
            <a:ext cx="10515600" cy="713232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129784"/>
            <a:ext cx="475488" cy="47548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5010912"/>
            <a:ext cx="46634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222"/>
                </a:solidFill>
                <a:latin typeface="Calibri"/>
              </a:rPr>
              <a:t>Mst Samiya Haque Kotha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010912"/>
            <a:ext cx="4572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Documentation, report &amp;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6B6B"/>
                </a:solidFill>
                <a:latin typeface="Calibri"/>
              </a:rPr>
              <a:t>Every member contributed across design, development, testing &amp; docs. Source managed with Git + GitHub.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Challenges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22222"/>
                </a:solidFill>
                <a:latin typeface="Trebuchet MS"/>
              </a:rPr>
              <a:t>Challenges we solved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94560"/>
            <a:ext cx="329184" cy="329184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19456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Keeping UI in sync → single Provider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871215"/>
            <a:ext cx="329184" cy="329184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871215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Cloud data → Firestore + realtime listener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547872"/>
            <a:ext cx="329184" cy="329184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547872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Trend chart → custom CustomPainter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224527"/>
            <a:ext cx="329184" cy="329184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224527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Valid input → keypad guard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54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22222"/>
                </a:solidFill>
                <a:latin typeface="Trebuchet MS"/>
              </a:rPr>
              <a:t>Future enhancements</a:t>
            </a:r>
          </a:p>
        </p:txBody>
      </p:sp>
      <p:sp>
        <p:nvSpPr>
          <p:cNvPr id="15" name="Oval 14"/>
          <p:cNvSpPr/>
          <p:nvPr/>
        </p:nvSpPr>
        <p:spPr>
          <a:xfrm>
            <a:off x="6355080" y="2194560"/>
            <a:ext cx="329184" cy="329184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C107"/>
                </a:solidFill>
                <a:latin typeface="Trebuchet MS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19456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User accounts (Firebase Auth)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79776"/>
            <a:ext cx="329184" cy="329184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C107"/>
                </a:solidFill>
                <a:latin typeface="Trebuchet MS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77977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Firestore security rules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3364991"/>
            <a:ext cx="329184" cy="329184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C107"/>
                </a:solidFill>
                <a:latin typeface="Trebuchet M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364991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Export to CSV / PDF</a:t>
            </a:r>
          </a:p>
        </p:txBody>
      </p:sp>
      <p:sp>
        <p:nvSpPr>
          <p:cNvPr id="21" name="Oval 20"/>
          <p:cNvSpPr/>
          <p:nvPr/>
        </p:nvSpPr>
        <p:spPr>
          <a:xfrm>
            <a:off x="6355080" y="3950208"/>
            <a:ext cx="329184" cy="329184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C107"/>
                </a:solidFill>
                <a:latin typeface="Trebuchet MS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950208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Recurring bills &amp; reminders</a:t>
            </a:r>
          </a:p>
        </p:txBody>
      </p:sp>
      <p:sp>
        <p:nvSpPr>
          <p:cNvPr id="23" name="Oval 22"/>
          <p:cNvSpPr/>
          <p:nvPr/>
        </p:nvSpPr>
        <p:spPr>
          <a:xfrm>
            <a:off x="6355080" y="4535424"/>
            <a:ext cx="329184" cy="329184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C107"/>
                </a:solidFill>
                <a:latin typeface="Trebuchet MS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4535424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Dark mode &amp; multi-currency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600" b="1" i="0">
                <a:solidFill>
                  <a:srgbClr val="FFC107"/>
                </a:solidFill>
                <a:latin typeface="Trebuchet M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20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My Wallet — Personal Expense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206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BDBDBD"/>
                </a:solidFill>
                <a:latin typeface="Calibri"/>
              </a:rPr>
              <a:t>Built with Flutter  ·  Firebase  ·  Cloud Firestore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C107"/>
                </a:solidFill>
                <a:latin typeface="Calibri"/>
              </a:rPr>
              <a:t>Questions  ·  github.com/LBBT-God/expense-tracker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